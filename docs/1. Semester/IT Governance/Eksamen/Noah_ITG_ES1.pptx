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66" r:id="rId4"/>
    <p:sldId id="268" r:id="rId5"/>
    <p:sldId id="267" r:id="rId6"/>
    <p:sldId id="269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0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6642-45DF-DA64-6904-DC4E8FB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4E56-6BE8-0343-6E29-E2E7A4A40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7FDA-BED5-7C08-8EAA-D5799AAB7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Et Information Security Management System</a:t>
            </a:r>
            <a:r>
              <a:rPr lang="en-DK" b="0" dirty="0"/>
              <a:t> </a:t>
            </a:r>
            <a:r>
              <a:rPr lang="en-DK" b="0" dirty="0" err="1"/>
              <a:t>eller</a:t>
            </a:r>
            <a:r>
              <a:rPr lang="en-DK" b="0" dirty="0"/>
              <a:t> et </a:t>
            </a:r>
            <a:r>
              <a:rPr lang="da-DK" b="0" dirty="0"/>
              <a:t>Informationssikkerhed (ISMS) er grundlaget for IT-governance i </a:t>
            </a:r>
            <a:r>
              <a:rPr lang="en-DK" b="0" dirty="0" err="1"/>
              <a:t>virksomheder</a:t>
            </a:r>
            <a:r>
              <a:rPr lang="da-DK" b="0" dirty="0"/>
              <a:t> og udgør en systematisk tilgang til styring af informationssikkerhed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da-DK" b="0" dirty="0"/>
              <a:t>Et ISMS er et sæt krav til etablering, implementering, vedligeholdelse og løbende forbedring af informationssikkerhed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da-DK" b="0" dirty="0"/>
              <a:t>Formålet med ISMS er at bevare fortrolighed, integritet og tilgængelighed (CIA) af information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da-DK" b="0" dirty="0"/>
              <a:t>En virksomhed bruger også et ISMS for at sikre, at sikkerhedsindsatsen ikke stagnerer, men løbende forbedres og forbliver effektiv</a:t>
            </a:r>
            <a:endParaRPr lang="en-DK" b="0" dirty="0"/>
          </a:p>
          <a:p>
            <a:endParaRPr lang="en-DK" b="0" dirty="0"/>
          </a:p>
          <a:p>
            <a:r>
              <a:rPr lang="da-DK" b="0" dirty="0"/>
              <a:t>Et ISMS giver interessenter </a:t>
            </a:r>
            <a:r>
              <a:rPr lang="da-DK" b="1" dirty="0"/>
              <a:t>tillid</a:t>
            </a:r>
            <a:r>
              <a:rPr lang="da-DK" b="0" dirty="0"/>
              <a:t> til, at risici håndteres på en ordentlig made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da-DK" b="0" dirty="0"/>
              <a:t>Systemet er etableret for at bevare fortrolighed, integritet og tilgængelighed af information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 </a:t>
            </a:r>
            <a:r>
              <a:rPr lang="en-US" b="1" dirty="0" err="1"/>
              <a:t>Fortrolighed</a:t>
            </a:r>
            <a:r>
              <a:rPr lang="en-US" b="1" dirty="0"/>
              <a:t> (Confidentiality)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err="1"/>
              <a:t>Kryptering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="0" dirty="0"/>
              <a:t>Adgangsbegrænsning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="0" dirty="0"/>
              <a:t>To-faktor-autentificering (2FA)</a:t>
            </a:r>
            <a:endParaRPr lang="en-DK" b="0" dirty="0"/>
          </a:p>
          <a:p>
            <a:pPr marL="0" indent="0">
              <a:buFont typeface="Arial" panose="020B0604020202020204" pitchFamily="34" charset="0"/>
              <a:buNone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/>
              <a:t>I </a:t>
            </a:r>
            <a:r>
              <a:rPr lang="en-US" b="1" dirty="0" err="1"/>
              <a:t>Integritet</a:t>
            </a:r>
            <a:r>
              <a:rPr lang="en-US" b="1" dirty="0"/>
              <a:t> (Integrity)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="0" dirty="0"/>
              <a:t>Hashing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="0" dirty="0"/>
              <a:t>Digitale signaturer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="0" dirty="0"/>
              <a:t>Certifikater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DK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/>
              <a:t>A </a:t>
            </a:r>
            <a:r>
              <a:rPr lang="en-US" b="1" dirty="0" err="1"/>
              <a:t>Tilgængelighed</a:t>
            </a:r>
            <a:r>
              <a:rPr lang="en-US" b="1" dirty="0"/>
              <a:t> (Availability)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err="1"/>
              <a:t>Redundans</a:t>
            </a:r>
            <a:endParaRPr lang="en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7FF2-BFAF-333E-77D0-9525416AE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4322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DBE9-1658-4B0B-8B87-01E0DCB8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AEB66-0357-3E17-8270-8FD9AF4F6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7B46F-766E-1FE2-D9A5-3D6213DBE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0" dirty="0" err="1"/>
              <a:t>Lovgivninger</a:t>
            </a:r>
            <a:r>
              <a:rPr lang="en-DK" b="0" dirty="0"/>
              <a:t>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godt</a:t>
            </a:r>
            <a:r>
              <a:rPr lang="en-DK" b="0" dirty="0"/>
              <a:t> </a:t>
            </a:r>
            <a:r>
              <a:rPr lang="en-DK" b="0" dirty="0" err="1"/>
              <a:t>være</a:t>
            </a:r>
            <a:r>
              <a:rPr lang="en-DK" b="0" dirty="0"/>
              <a:t> </a:t>
            </a:r>
            <a:r>
              <a:rPr lang="en-DK" b="0" dirty="0" err="1"/>
              <a:t>meget</a:t>
            </a:r>
            <a:r>
              <a:rPr lang="en-DK" b="0" dirty="0"/>
              <a:t> brede, </a:t>
            </a:r>
            <a:r>
              <a:rPr lang="en-DK" b="0" dirty="0" err="1"/>
              <a:t>og</a:t>
            </a:r>
            <a:r>
              <a:rPr lang="en-DK" b="0" dirty="0"/>
              <a:t> det </a:t>
            </a:r>
            <a:r>
              <a:rPr lang="en-DK" b="0" dirty="0" err="1"/>
              <a:t>kan</a:t>
            </a:r>
            <a:r>
              <a:rPr lang="en-DK" b="0" dirty="0"/>
              <a:t> </a:t>
            </a:r>
            <a:r>
              <a:rPr lang="en-DK" b="0" dirty="0" err="1"/>
              <a:t>være</a:t>
            </a:r>
            <a:r>
              <a:rPr lang="en-DK" b="0" dirty="0"/>
              <a:t> </a:t>
            </a:r>
            <a:r>
              <a:rPr lang="en-DK" b="0" dirty="0" err="1"/>
              <a:t>svært</a:t>
            </a:r>
            <a:r>
              <a:rPr lang="en-DK" b="0" dirty="0"/>
              <a:t> at vide, </a:t>
            </a:r>
            <a:r>
              <a:rPr lang="en-DK" b="0" dirty="0" err="1"/>
              <a:t>hvor</a:t>
            </a:r>
            <a:r>
              <a:rPr lang="en-DK" b="0" dirty="0"/>
              <a:t> man </a:t>
            </a:r>
            <a:r>
              <a:rPr lang="en-DK" b="0" dirty="0" err="1"/>
              <a:t>skal</a:t>
            </a:r>
            <a:r>
              <a:rPr lang="en-DK" b="0" dirty="0"/>
              <a:t> starter </a:t>
            </a:r>
            <a:r>
              <a:rPr lang="en-DK" b="0" dirty="0" err="1"/>
              <a:t>eller</a:t>
            </a:r>
            <a:r>
              <a:rPr lang="en-DK" b="0" dirty="0"/>
              <a:t> </a:t>
            </a:r>
            <a:r>
              <a:rPr lang="en-DK" b="0" dirty="0" err="1"/>
              <a:t>hvordan</a:t>
            </a:r>
            <a:r>
              <a:rPr lang="en-DK" b="0" dirty="0"/>
              <a:t> man </a:t>
            </a:r>
            <a:r>
              <a:rPr lang="en-DK" b="0" dirty="0" err="1"/>
              <a:t>overhoved</a:t>
            </a:r>
            <a:r>
              <a:rPr lang="en-DK" b="0" dirty="0"/>
              <a:t> </a:t>
            </a:r>
            <a:r>
              <a:rPr lang="en-DK" b="0" dirty="0" err="1"/>
              <a:t>gør</a:t>
            </a:r>
            <a:r>
              <a:rPr lang="en-DK" b="0" dirty="0"/>
              <a:t> det.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37D3-1B6E-3E4A-99B9-2DC8C919A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8893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A609-9B87-6A2F-72EE-AABFC5B5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A3648-75BB-CE4E-AC34-174F716A9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5456B-0AAD-EFDE-BD46-E3D12A8FB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Lovgivninger</a:t>
            </a:r>
            <a:r>
              <a:rPr lang="en-DK" dirty="0"/>
              <a:t> </a:t>
            </a:r>
            <a:r>
              <a:rPr lang="en-DK" dirty="0" err="1"/>
              <a:t>som</a:t>
            </a:r>
            <a:r>
              <a:rPr lang="en-DK" dirty="0"/>
              <a:t> </a:t>
            </a:r>
            <a:r>
              <a:rPr lang="da-DK" dirty="0"/>
              <a:t>NIS2 sætter rammerne for IT-governance, idet de pålægger </a:t>
            </a:r>
            <a:r>
              <a:rPr lang="da-DK" b="1" dirty="0"/>
              <a:t>tvingende eksterne krav</a:t>
            </a:r>
            <a:r>
              <a:rPr lang="da-DK" dirty="0"/>
              <a:t>, som organisationen er forpligtet til at efterleve. Standarderne (ISO 2700x) leverer metoden til at opfylde, vedligeholde og dokumentere overholdelsen af disse krav.</a:t>
            </a:r>
            <a:endParaRPr lang="da-DK" b="0" dirty="0"/>
          </a:p>
          <a:p>
            <a:endParaRPr lang="en-DK" b="0" dirty="0"/>
          </a:p>
          <a:p>
            <a:r>
              <a:rPr lang="en-US" dirty="0"/>
              <a:t>Compliance er </a:t>
            </a:r>
            <a:r>
              <a:rPr lang="en-US" dirty="0" err="1"/>
              <a:t>lovkrav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ISO </a:t>
            </a:r>
            <a:r>
              <a:rPr lang="en-US" dirty="0" err="1"/>
              <a:t>definerer</a:t>
            </a:r>
            <a:r>
              <a:rPr lang="en-US" dirty="0"/>
              <a:t> at </a:t>
            </a:r>
            <a:r>
              <a:rPr lang="en-US" dirty="0" err="1"/>
              <a:t>ledelsen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tage</a:t>
            </a:r>
            <a:r>
              <a:rPr lang="en-US" dirty="0"/>
              <a:t> </a:t>
            </a:r>
            <a:r>
              <a:rPr lang="en-US" dirty="0" err="1"/>
              <a:t>ansvar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sørge</a:t>
            </a:r>
            <a:r>
              <a:rPr lang="en-US" dirty="0"/>
              <a:t> for </a:t>
            </a:r>
            <a:r>
              <a:rPr lang="en-US" dirty="0" err="1"/>
              <a:t>resourcer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deltage</a:t>
            </a:r>
            <a:r>
              <a:rPr lang="en-US" dirty="0"/>
              <a:t> </a:t>
            </a:r>
            <a:r>
              <a:rPr lang="en-US" dirty="0" err="1"/>
              <a:t>aktivt</a:t>
            </a:r>
            <a:r>
              <a:rPr lang="en-US" dirty="0"/>
              <a:t> I </a:t>
            </a:r>
            <a:r>
              <a:rPr lang="en-US" dirty="0" err="1"/>
              <a:t>træffelsen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beslutninger</a:t>
            </a:r>
            <a:r>
              <a:rPr lang="en-DK" dirty="0"/>
              <a:t>.</a:t>
            </a:r>
          </a:p>
          <a:p>
            <a:endParaRPr lang="en-DK" b="0" dirty="0"/>
          </a:p>
          <a:p>
            <a:r>
              <a:rPr lang="da-DK" dirty="0"/>
              <a:t>ISO-standarderne giver rammen og processen til at sikre, at NIS2-kravene bliver opfyldt</a:t>
            </a:r>
            <a:r>
              <a:rPr lang="en-DK" dirty="0"/>
              <a:t>.</a:t>
            </a:r>
            <a:endParaRPr lang="en-DK" b="0" dirty="0"/>
          </a:p>
          <a:p>
            <a:endParaRPr lang="en-DK" b="0" dirty="0"/>
          </a:p>
          <a:p>
            <a:r>
              <a:rPr lang="en-US" dirty="0"/>
              <a:t>ISO27001 </a:t>
            </a:r>
            <a:r>
              <a:rPr lang="en-US" dirty="0" err="1"/>
              <a:t>beskriver</a:t>
            </a:r>
            <a:r>
              <a:rPr lang="en-US" dirty="0"/>
              <a:t> </a:t>
            </a:r>
            <a:r>
              <a:rPr lang="en-US" dirty="0" err="1"/>
              <a:t>kravene</a:t>
            </a:r>
            <a:r>
              <a:rPr lang="en-US" dirty="0"/>
              <a:t> </a:t>
            </a:r>
          </a:p>
          <a:p>
            <a:r>
              <a:rPr lang="en-US" dirty="0"/>
              <a:t>ISO27002 </a:t>
            </a:r>
            <a:r>
              <a:rPr lang="en-US" dirty="0" err="1"/>
              <a:t>beskriver</a:t>
            </a:r>
            <a:r>
              <a:rPr lang="en-US" dirty="0"/>
              <a:t> </a:t>
            </a:r>
            <a:r>
              <a:rPr lang="en-US" dirty="0" err="1"/>
              <a:t>hvordan</a:t>
            </a:r>
            <a:r>
              <a:rPr lang="en-US" dirty="0"/>
              <a:t> man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overholde</a:t>
            </a:r>
            <a:r>
              <a:rPr lang="en-US" dirty="0"/>
              <a:t> </a:t>
            </a:r>
            <a:r>
              <a:rPr lang="en-US" dirty="0" err="1"/>
              <a:t>kravene</a:t>
            </a:r>
            <a:endParaRPr lang="en-US" dirty="0"/>
          </a:p>
          <a:p>
            <a:r>
              <a:rPr lang="en-US" dirty="0"/>
              <a:t>ISO27005 </a:t>
            </a:r>
            <a:r>
              <a:rPr lang="en-US" dirty="0" err="1"/>
              <a:t>beskriver</a:t>
            </a:r>
            <a:r>
              <a:rPr lang="en-US" dirty="0"/>
              <a:t> </a:t>
            </a:r>
            <a:r>
              <a:rPr lang="en-US" dirty="0" err="1"/>
              <a:t>risikostyringen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hjælper</a:t>
            </a:r>
            <a:r>
              <a:rPr lang="en-US" dirty="0"/>
              <a:t> med at </a:t>
            </a:r>
            <a:r>
              <a:rPr lang="en-US" dirty="0" err="1"/>
              <a:t>afdække</a:t>
            </a:r>
            <a:r>
              <a:rPr lang="en-US" dirty="0"/>
              <a:t> ISO27001</a:t>
            </a:r>
          </a:p>
          <a:p>
            <a:endParaRPr lang="en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B8AA6-A0BB-E385-2F5C-57F7274D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21611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1B3B-7161-B54E-3977-0C2430F3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C19FD-E5A3-4655-1CDB-D34268C60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08A2C-BA53-F3B4-8FD8-88F64D9BF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SOA-dokumentet er en </a:t>
            </a:r>
            <a:r>
              <a:rPr lang="da-DK" b="1" dirty="0"/>
              <a:t>oversigt over de sikkerhedskontroller</a:t>
            </a:r>
            <a:r>
              <a:rPr lang="da-DK" dirty="0"/>
              <a:t>, som en organisation har valgt at implementere (eller udelade) for at håndtere risici inden for informationssikkerhed. Det er en </a:t>
            </a:r>
            <a:r>
              <a:rPr lang="da-DK" b="1" dirty="0"/>
              <a:t>dynamisk del</a:t>
            </a:r>
            <a:r>
              <a:rPr lang="da-DK" dirty="0"/>
              <a:t> af organisationens ISMS og skal opdateres løbende.</a:t>
            </a:r>
            <a:endParaRPr lang="en-DK" dirty="0"/>
          </a:p>
          <a:p>
            <a:endParaRPr lang="en-DK" b="0" dirty="0"/>
          </a:p>
          <a:p>
            <a:r>
              <a:rPr lang="en-DK" b="0" dirty="0" err="1"/>
              <a:t>Gennemsigtighed</a:t>
            </a:r>
            <a:r>
              <a:rPr lang="en-DK" b="0" dirty="0"/>
              <a:t>: </a:t>
            </a:r>
            <a:r>
              <a:rPr lang="en-US" b="0" dirty="0" err="1"/>
              <a:t>Åbenhed</a:t>
            </a:r>
            <a:r>
              <a:rPr lang="en-US" b="0" dirty="0"/>
              <a:t> over for </a:t>
            </a:r>
            <a:r>
              <a:rPr lang="en-US" b="0" dirty="0" err="1"/>
              <a:t>interessenter</a:t>
            </a:r>
            <a:r>
              <a:rPr lang="en-DK" b="0" dirty="0"/>
              <a:t>, </a:t>
            </a:r>
            <a:r>
              <a:rPr lang="en-US" b="0" dirty="0" err="1"/>
              <a:t>Dokumentation</a:t>
            </a:r>
            <a:r>
              <a:rPr lang="en-US" b="0" dirty="0"/>
              <a:t> </a:t>
            </a:r>
            <a:r>
              <a:rPr lang="en-US" b="0" dirty="0" err="1"/>
              <a:t>af</a:t>
            </a:r>
            <a:r>
              <a:rPr lang="en-US" b="0" dirty="0"/>
              <a:t> </a:t>
            </a:r>
            <a:r>
              <a:rPr lang="en-US" b="0" dirty="0" err="1"/>
              <a:t>beslutninger</a:t>
            </a:r>
            <a:endParaRPr lang="en-DK" b="0" dirty="0"/>
          </a:p>
          <a:p>
            <a:r>
              <a:rPr lang="en-DK" b="0" dirty="0"/>
              <a:t>Styring: </a:t>
            </a:r>
            <a:r>
              <a:rPr lang="en-US" b="0" dirty="0" err="1"/>
              <a:t>Løbende</a:t>
            </a:r>
            <a:r>
              <a:rPr lang="en-US" b="0" dirty="0"/>
              <a:t> </a:t>
            </a:r>
            <a:r>
              <a:rPr lang="en-US" b="0" dirty="0" err="1"/>
              <a:t>opdatering</a:t>
            </a:r>
            <a:r>
              <a:rPr lang="en-US" b="0" dirty="0"/>
              <a:t> </a:t>
            </a:r>
            <a:r>
              <a:rPr lang="en-US" b="0" dirty="0" err="1"/>
              <a:t>og</a:t>
            </a:r>
            <a:r>
              <a:rPr lang="en-US" b="0" dirty="0"/>
              <a:t> </a:t>
            </a:r>
            <a:r>
              <a:rPr lang="en-US" b="0" dirty="0" err="1"/>
              <a:t>forbedring</a:t>
            </a:r>
            <a:r>
              <a:rPr lang="en-DK" b="0" dirty="0"/>
              <a:t>, </a:t>
            </a:r>
            <a:r>
              <a:rPr lang="en-US" b="0" dirty="0" err="1"/>
              <a:t>Måling</a:t>
            </a:r>
            <a:r>
              <a:rPr lang="en-US" b="0" dirty="0"/>
              <a:t> </a:t>
            </a:r>
            <a:r>
              <a:rPr lang="en-US" b="0" dirty="0" err="1"/>
              <a:t>og</a:t>
            </a:r>
            <a:r>
              <a:rPr lang="en-US" b="0" dirty="0"/>
              <a:t> </a:t>
            </a:r>
            <a:r>
              <a:rPr lang="en-US" b="0" dirty="0" err="1"/>
              <a:t>overvågning</a:t>
            </a:r>
            <a:r>
              <a:rPr lang="en-DK" b="0" dirty="0"/>
              <a:t>.</a:t>
            </a:r>
          </a:p>
          <a:p>
            <a:endParaRPr lang="en-DK" b="0" dirty="0"/>
          </a:p>
          <a:p>
            <a:r>
              <a:rPr lang="da-DK" b="0"/>
              <a:t>Personrelaterede foranstaltninger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C686-29DE-BE48-1CB8-C847A249F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4589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a-DK" sz="5100" noProof="0" dirty="0">
                <a:solidFill>
                  <a:schemeClr val="bg1"/>
                </a:solidFill>
              </a:rPr>
              <a:t>Hvilken rolle spiller standarder og lovgivning i etableringen af et IT-governance grundlag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noProof="0" dirty="0">
                <a:solidFill>
                  <a:schemeClr val="bg1"/>
                </a:solidFill>
              </a:rPr>
              <a:t>Hvad er et ISMS system?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dirty="0">
                <a:solidFill>
                  <a:schemeClr val="bg1"/>
                </a:solidFill>
              </a:rPr>
              <a:t>Lovgivning</a:t>
            </a:r>
            <a:r>
              <a:rPr lang="en-DK" sz="2600" dirty="0">
                <a:solidFill>
                  <a:schemeClr val="bg1"/>
                </a:solidFill>
              </a:rPr>
              <a:t>: NIS2</a:t>
            </a: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600" dirty="0">
                <a:solidFill>
                  <a:schemeClr val="bg1"/>
                </a:solidFill>
              </a:rPr>
              <a:t>ISO 27001</a:t>
            </a:r>
            <a:endParaRPr lang="en-DK" sz="2600" noProof="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SOA</a:t>
            </a:r>
            <a:endParaRPr lang="da-DK" sz="2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5D69B-8DFE-8606-D82B-2CE3A59E0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2EC0-EAE4-3E06-DBBC-1FFA7F5A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Hvad er et ISMS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FB8F-DD67-34BA-D048-6F92962D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noProof="0" dirty="0" err="1">
                <a:solidFill>
                  <a:schemeClr val="bg1"/>
                </a:solidFill>
              </a:rPr>
              <a:t>Hvad</a:t>
            </a:r>
            <a:r>
              <a:rPr lang="en-DK" noProof="0" dirty="0">
                <a:solidFill>
                  <a:schemeClr val="bg1"/>
                </a:solidFill>
              </a:rPr>
              <a:t> er det?</a:t>
            </a:r>
          </a:p>
          <a:p>
            <a:r>
              <a:rPr lang="en-DK" noProof="0" dirty="0" err="1">
                <a:solidFill>
                  <a:schemeClr val="bg1"/>
                </a:solidFill>
              </a:rPr>
              <a:t>Hvorfor</a:t>
            </a:r>
            <a:r>
              <a:rPr lang="en-DK" noProof="0" dirty="0">
                <a:solidFill>
                  <a:schemeClr val="bg1"/>
                </a:solidFill>
              </a:rPr>
              <a:t> b</a:t>
            </a:r>
            <a:r>
              <a:rPr lang="en-US" noProof="0" dirty="0" err="1">
                <a:solidFill>
                  <a:schemeClr val="bg1"/>
                </a:solidFill>
              </a:rPr>
              <a:t>ur</a:t>
            </a:r>
            <a:r>
              <a:rPr lang="en-DK" noProof="0" dirty="0">
                <a:solidFill>
                  <a:schemeClr val="bg1"/>
                </a:solidFill>
              </a:rPr>
              <a:t>ger </a:t>
            </a:r>
            <a:r>
              <a:rPr lang="en-US" noProof="0" dirty="0" err="1">
                <a:solidFill>
                  <a:schemeClr val="bg1"/>
                </a:solidFill>
              </a:rPr>
              <a:t>NordEnergiNet</a:t>
            </a:r>
            <a:r>
              <a:rPr lang="en-US" noProof="0" dirty="0">
                <a:solidFill>
                  <a:schemeClr val="bg1"/>
                </a:solidFill>
              </a:rPr>
              <a:t> A/S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dette</a:t>
            </a:r>
            <a:r>
              <a:rPr lang="en-DK" noProof="0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da-DK" noProof="0" dirty="0">
                <a:solidFill>
                  <a:schemeClr val="bg1"/>
                </a:solidFill>
              </a:rPr>
              <a:t>Tillid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noProof="0" dirty="0">
                <a:solidFill>
                  <a:schemeClr val="bg1"/>
                </a:solidFill>
              </a:rPr>
              <a:t>Bevaring af CIA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noProof="0" dirty="0">
                <a:solidFill>
                  <a:schemeClr val="bg1"/>
                </a:solidFill>
              </a:rPr>
              <a:t>Løbende forbedring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E8148-AC63-7520-DE47-64EAF706497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62078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IA_modellen">
            <a:extLst>
              <a:ext uri="{FF2B5EF4-FFF2-40B4-BE49-F238E27FC236}">
                <a16:creationId xmlns:a16="http://schemas.microsoft.com/office/drawing/2014/main" id="{70387B60-A19C-112E-6FB4-564B2FCF1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951" y="1690688"/>
            <a:ext cx="5157983" cy="405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58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3D987-01F9-3C8C-17E0-37C092C9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95DD-24E1-6D6C-1B29-B0EDA845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Lovgivning</a:t>
            </a:r>
            <a:r>
              <a:rPr lang="en-DK" dirty="0">
                <a:solidFill>
                  <a:schemeClr val="bg1"/>
                </a:solidFill>
              </a:rPr>
              <a:t>: NIS2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3318B-7052-EF58-D47B-BC32F8CB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Lovgivning er tvingende eksterne krav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skal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overholdes</a:t>
            </a:r>
            <a:endParaRPr lang="da-DK" noProof="0" dirty="0">
              <a:solidFill>
                <a:schemeClr val="bg1"/>
              </a:solidFill>
            </a:endParaRPr>
          </a:p>
          <a:p>
            <a:r>
              <a:rPr lang="da-DK" noProof="0" dirty="0">
                <a:solidFill>
                  <a:schemeClr val="bg1"/>
                </a:solidFill>
              </a:rPr>
              <a:t>Manglende efterlevelse kan medføre sanktioner og bøder 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Sætter minimumskrav til sikkerhed og dokumentation 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Danner rammerne for IT-governance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AB04AE-593A-A33B-6246-B97373DF5C4A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5017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47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03FC5-FD2D-15FD-E82C-998F7078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2458-29A8-1317-0C54-E379DB8F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bg1"/>
                </a:solidFill>
              </a:rPr>
              <a:t>ISO 27001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3B0B-612E-696F-8B37-0549544F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694"/>
            <a:ext cx="11108267" cy="4841181"/>
          </a:xfrm>
        </p:spPr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International standard for informationssikkerhed 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Krav til ledelsessystem for informationssikkerhed 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ISMS skaber struktur og overblik 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Understøtter efterlevelse af lovgivning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7E395B-8500-39BA-746C-25D402317A00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247857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7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31AEA-900B-2999-494E-B7C51A9F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FC09-1FDB-D957-90F7-1DAD1750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Statement of </a:t>
            </a:r>
            <a:r>
              <a:rPr lang="en-DK" noProof="0" dirty="0" err="1">
                <a:solidFill>
                  <a:schemeClr val="bg1"/>
                </a:solidFill>
              </a:rPr>
              <a:t>aplicability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26A2-FADC-AC5D-98F4-82017F24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en-DK" noProof="0" dirty="0">
                <a:solidFill>
                  <a:schemeClr val="bg1"/>
                </a:solidFill>
              </a:rPr>
              <a:t>F</a:t>
            </a:r>
            <a:r>
              <a:rPr lang="da-DK" noProof="0" dirty="0">
                <a:solidFill>
                  <a:schemeClr val="bg1"/>
                </a:solidFill>
              </a:rPr>
              <a:t>ormelle dokumentation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noProof="0" dirty="0">
                <a:solidFill>
                  <a:schemeClr val="bg1"/>
                </a:solidFill>
              </a:rPr>
              <a:t>Dokumenterer valgte sikkerhedsforanstaltninger 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Baseret på ISO 27002</a:t>
            </a:r>
          </a:p>
          <a:p>
            <a:r>
              <a:rPr lang="da-DK" noProof="0" dirty="0">
                <a:solidFill>
                  <a:schemeClr val="bg1"/>
                </a:solidFill>
              </a:rPr>
              <a:t>Skaber gennemsigtighed og styring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2E697C-0895-FF2C-C08C-9703093FD06D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604164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2EA6486-0986-F55E-A5F1-084D06CDA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290"/>
          <a:stretch>
            <a:fillRect/>
          </a:stretch>
        </p:blipFill>
        <p:spPr>
          <a:xfrm>
            <a:off x="223167" y="4963915"/>
            <a:ext cx="11723299" cy="90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31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8464</TotalTime>
  <Words>459</Words>
  <Application>Microsoft Office PowerPoint</Application>
  <PresentationFormat>Widescreen</PresentationFormat>
  <Paragraphs>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Hvilken rolle spiller standarder og lovgivning i etableringen af et IT-governance grundlag</vt:lpstr>
      <vt:lpstr>Agenda</vt:lpstr>
      <vt:lpstr>Hvad er et ISMS system?</vt:lpstr>
      <vt:lpstr>Lovgivning: NIS2</vt:lpstr>
      <vt:lpstr>ISO 27001</vt:lpstr>
      <vt:lpstr>Statement of aplicability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436</cp:revision>
  <dcterms:created xsi:type="dcterms:W3CDTF">2025-11-06T19:46:54Z</dcterms:created>
  <dcterms:modified xsi:type="dcterms:W3CDTF">2025-12-17T08:22:37Z</dcterms:modified>
</cp:coreProperties>
</file>