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7" r:id="rId3"/>
    <p:sldId id="266" r:id="rId4"/>
    <p:sldId id="269" r:id="rId5"/>
    <p:sldId id="267" r:id="rId6"/>
    <p:sldId id="268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6642-45DF-DA64-6904-DC4E8FBD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4E56-6BE8-0343-6E29-E2E7A4A40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57FDA-BED5-7C08-8EAA-D5799AAB7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NordEnergiNet A/S kun står for en overvågningen af elnettet i en del af Danmark, så samarbejder de med Energinet A/S som varetager den overordnede el-infrastruktur i Danmark. En del af virksomhedens systemer er integreret med Energinets overvågnings- og planlægningssystemer, som facilitere dataudveksling i forhold til driftsdata, kapacitetsmålinger, alarmer og hændelsesinformation. Dette hjælper begge parter da, downtime på det overordnede el-net kan have effekter på det som NordEnergiNet A/S står for, og omvendt.</a:t>
            </a:r>
            <a:endParaRPr lang="en-DK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7FF2-BFAF-333E-77D0-9525416AE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4322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095E-9D02-222A-EEDE-A4D253DA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6873A-DBEB-3B79-8E4B-F68B77415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6B705-373A-A20D-585E-E27BD143D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a-DK" dirty="0"/>
              <a:t>PDCA-cyklussen er den systematiske ledelsesmodel, der danner grundlaget for etablering, implementering og løbende vedligeholdelse af et Ledelsessystem for Informationssikkerhed (ISMS) i henhold til ISO 27001-standarden.</a:t>
            </a:r>
            <a:endParaRPr lang="en-DK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DK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</a:rPr>
              <a:t>PDCA – </a:t>
            </a:r>
            <a:r>
              <a:rPr lang="en-US" b="1" dirty="0" err="1">
                <a:solidFill>
                  <a:schemeClr val="dk1"/>
                </a:solidFill>
              </a:rPr>
              <a:t>overblik</a:t>
            </a:r>
            <a:endParaRPr lang="en-US"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Plan: </a:t>
            </a:r>
            <a:r>
              <a:rPr lang="en-US" dirty="0" err="1">
                <a:solidFill>
                  <a:schemeClr val="dk1"/>
                </a:solidFill>
              </a:rPr>
              <a:t>Identificer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kritiske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systemer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en-US" dirty="0" err="1">
                <a:solidFill>
                  <a:schemeClr val="dk1"/>
                </a:solidFill>
              </a:rPr>
              <a:t>risici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en-US" dirty="0" err="1">
                <a:solidFill>
                  <a:schemeClr val="dk1"/>
                </a:solidFill>
              </a:rPr>
              <a:t>krav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forudsætninger</a:t>
            </a:r>
            <a:r>
              <a:rPr lang="en-US" dirty="0">
                <a:solidFill>
                  <a:schemeClr val="dk1"/>
                </a:solidFill>
              </a:rPr>
              <a:t> for </a:t>
            </a:r>
            <a:r>
              <a:rPr lang="en-US" dirty="0" err="1">
                <a:solidFill>
                  <a:schemeClr val="dk1"/>
                </a:solidFill>
              </a:rPr>
              <a:t>beredskabet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Do: </a:t>
            </a:r>
            <a:r>
              <a:rPr lang="en-US" dirty="0">
                <a:solidFill>
                  <a:schemeClr val="dk1"/>
                </a:solidFill>
              </a:rPr>
              <a:t>Gennemfør de </a:t>
            </a:r>
            <a:r>
              <a:rPr lang="en-US" dirty="0" err="1">
                <a:solidFill>
                  <a:schemeClr val="dk1"/>
                </a:solidFill>
              </a:rPr>
              <a:t>planlagte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aktiviteter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eller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kontroller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Check: </a:t>
            </a:r>
            <a:r>
              <a:rPr lang="en-US" dirty="0" err="1">
                <a:solidFill>
                  <a:schemeClr val="dk1"/>
                </a:solidFill>
              </a:rPr>
              <a:t>Overvåg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evaluer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resultaterne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i</a:t>
            </a:r>
            <a:r>
              <a:rPr lang="en-US" dirty="0">
                <a:solidFill>
                  <a:schemeClr val="dk1"/>
                </a:solidFill>
              </a:rPr>
              <a:t> forhold </a:t>
            </a:r>
            <a:r>
              <a:rPr lang="en-US" dirty="0" err="1">
                <a:solidFill>
                  <a:schemeClr val="dk1"/>
                </a:solidFill>
              </a:rPr>
              <a:t>til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målene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Act: </a:t>
            </a:r>
            <a:r>
              <a:rPr lang="en-US" dirty="0">
                <a:solidFill>
                  <a:schemeClr val="dk1"/>
                </a:solidFill>
              </a:rPr>
              <a:t>Tag </a:t>
            </a:r>
            <a:r>
              <a:rPr lang="en-US" dirty="0" err="1">
                <a:solidFill>
                  <a:schemeClr val="dk1"/>
                </a:solidFill>
              </a:rPr>
              <a:t>korrigerende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handlinger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forbedringer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baseret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på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evalueringen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lang="en-DK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</a:rPr>
              <a:t>ISO 27001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Plan: </a:t>
            </a:r>
            <a:r>
              <a:rPr lang="en-US" dirty="0" err="1">
                <a:solidFill>
                  <a:schemeClr val="dk1"/>
                </a:solidFill>
              </a:rPr>
              <a:t>Standardens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kapitel</a:t>
            </a:r>
            <a:r>
              <a:rPr lang="en-US" dirty="0">
                <a:solidFill>
                  <a:schemeClr val="dk1"/>
                </a:solidFill>
              </a:rPr>
              <a:t> 6 </a:t>
            </a:r>
            <a:r>
              <a:rPr lang="en-US" dirty="0" err="1">
                <a:solidFill>
                  <a:schemeClr val="dk1"/>
                </a:solidFill>
              </a:rPr>
              <a:t>omhandler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krav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til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risikovurdering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sikkerhedsmål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betyder</a:t>
            </a:r>
            <a:r>
              <a:rPr lang="en-US" dirty="0">
                <a:solidFill>
                  <a:schemeClr val="dk1"/>
                </a:solidFill>
              </a:rPr>
              <a:t>, at man </a:t>
            </a:r>
            <a:r>
              <a:rPr lang="en-US" dirty="0" err="1">
                <a:solidFill>
                  <a:schemeClr val="dk1"/>
                </a:solidFill>
              </a:rPr>
              <a:t>først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skal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forstå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organisationen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truslerne</a:t>
            </a:r>
            <a:r>
              <a:rPr lang="en-US" dirty="0">
                <a:solidFill>
                  <a:schemeClr val="dk1"/>
                </a:solidFill>
              </a:rPr>
              <a:t>. 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Do: </a:t>
            </a:r>
            <a:r>
              <a:rPr lang="en-US" dirty="0" err="1">
                <a:solidFill>
                  <a:schemeClr val="dk1"/>
                </a:solidFill>
              </a:rPr>
              <a:t>Standardens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kapitel</a:t>
            </a:r>
            <a:r>
              <a:rPr lang="en-US" dirty="0">
                <a:solidFill>
                  <a:schemeClr val="dk1"/>
                </a:solidFill>
              </a:rPr>
              <a:t> 8 </a:t>
            </a:r>
            <a:r>
              <a:rPr lang="en-US" dirty="0" err="1">
                <a:solidFill>
                  <a:schemeClr val="dk1"/>
                </a:solidFill>
              </a:rPr>
              <a:t>omhandler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krav</a:t>
            </a:r>
            <a:r>
              <a:rPr lang="en-US" dirty="0">
                <a:solidFill>
                  <a:schemeClr val="dk1"/>
                </a:solidFill>
              </a:rPr>
              <a:t> om </a:t>
            </a:r>
            <a:r>
              <a:rPr lang="en-US" dirty="0" err="1">
                <a:solidFill>
                  <a:schemeClr val="dk1"/>
                </a:solidFill>
              </a:rPr>
              <a:t>implementering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af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kontroller</a:t>
            </a:r>
            <a:r>
              <a:rPr lang="en-US" dirty="0">
                <a:solidFill>
                  <a:schemeClr val="dk1"/>
                </a:solidFill>
              </a:rPr>
              <a:t> er </a:t>
            </a:r>
            <a:r>
              <a:rPr lang="en-US" dirty="0" err="1">
                <a:solidFill>
                  <a:schemeClr val="dk1"/>
                </a:solidFill>
              </a:rPr>
              <a:t>direkte</a:t>
            </a:r>
            <a:r>
              <a:rPr lang="en-US" dirty="0">
                <a:solidFill>
                  <a:schemeClr val="dk1"/>
                </a:solidFill>
              </a:rPr>
              <a:t> handling </a:t>
            </a:r>
            <a:r>
              <a:rPr lang="en-US" dirty="0" err="1">
                <a:solidFill>
                  <a:schemeClr val="dk1"/>
                </a:solidFill>
              </a:rPr>
              <a:t>af</a:t>
            </a:r>
            <a:r>
              <a:rPr lang="en-US" dirty="0">
                <a:solidFill>
                  <a:schemeClr val="dk1"/>
                </a:solidFill>
              </a:rPr>
              <a:t> de </a:t>
            </a:r>
            <a:r>
              <a:rPr lang="en-US" dirty="0" err="1">
                <a:solidFill>
                  <a:schemeClr val="dk1"/>
                </a:solidFill>
              </a:rPr>
              <a:t>beslutninger</a:t>
            </a:r>
            <a:r>
              <a:rPr lang="en-US" dirty="0">
                <a:solidFill>
                  <a:schemeClr val="dk1"/>
                </a:solidFill>
              </a:rPr>
              <a:t>, man tog </a:t>
            </a:r>
            <a:r>
              <a:rPr lang="en-US" dirty="0" err="1">
                <a:solidFill>
                  <a:schemeClr val="dk1"/>
                </a:solidFill>
              </a:rPr>
              <a:t>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kapitel</a:t>
            </a:r>
            <a:r>
              <a:rPr lang="en-US" dirty="0">
                <a:solidFill>
                  <a:schemeClr val="dk1"/>
                </a:solidFill>
              </a:rPr>
              <a:t> 6.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Check: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Standardens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kapitel</a:t>
            </a:r>
            <a:r>
              <a:rPr lang="en-US" dirty="0">
                <a:solidFill>
                  <a:schemeClr val="dk1"/>
                </a:solidFill>
              </a:rPr>
              <a:t> 9 </a:t>
            </a:r>
            <a:r>
              <a:rPr lang="en-US" dirty="0" err="1">
                <a:solidFill>
                  <a:schemeClr val="dk1"/>
                </a:solidFill>
              </a:rPr>
              <a:t>omhandler</a:t>
            </a:r>
            <a:r>
              <a:rPr lang="en-US" b="1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Overvågning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interne audits for at </a:t>
            </a:r>
            <a:r>
              <a:rPr lang="en-US" dirty="0" err="1">
                <a:solidFill>
                  <a:schemeClr val="dk1"/>
                </a:solidFill>
              </a:rPr>
              <a:t>sikre</a:t>
            </a:r>
            <a:r>
              <a:rPr lang="en-US" dirty="0">
                <a:solidFill>
                  <a:schemeClr val="dk1"/>
                </a:solidFill>
              </a:rPr>
              <a:t>, at man </a:t>
            </a:r>
            <a:r>
              <a:rPr lang="en-US" dirty="0" err="1">
                <a:solidFill>
                  <a:schemeClr val="dk1"/>
                </a:solidFill>
              </a:rPr>
              <a:t>måler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effektiviteten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af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kontrollerne</a:t>
            </a:r>
            <a:endParaRPr lang="en-US"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Act: </a:t>
            </a:r>
            <a:r>
              <a:rPr lang="en-US" dirty="0" err="1">
                <a:solidFill>
                  <a:schemeClr val="dk1"/>
                </a:solidFill>
              </a:rPr>
              <a:t>Standardens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kapitel</a:t>
            </a:r>
            <a:r>
              <a:rPr lang="en-US" dirty="0">
                <a:solidFill>
                  <a:schemeClr val="dk1"/>
                </a:solidFill>
              </a:rPr>
              <a:t> 10 </a:t>
            </a:r>
            <a:r>
              <a:rPr lang="en-US" dirty="0" err="1">
                <a:solidFill>
                  <a:schemeClr val="dk1"/>
                </a:solidFill>
              </a:rPr>
              <a:t>omhandler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korrigerende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handlinger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løbende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forbedringer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en-US" dirty="0" err="1">
                <a:solidFill>
                  <a:schemeClr val="dk1"/>
                </a:solidFill>
              </a:rPr>
              <a:t>så</a:t>
            </a:r>
            <a:r>
              <a:rPr lang="en-US" dirty="0">
                <a:solidFill>
                  <a:schemeClr val="dk1"/>
                </a:solidFill>
              </a:rPr>
              <a:t> ISMS hele </a:t>
            </a:r>
            <a:r>
              <a:rPr lang="en-US" dirty="0" err="1">
                <a:solidFill>
                  <a:schemeClr val="dk1"/>
                </a:solidFill>
              </a:rPr>
              <a:t>tiden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justeres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tilpasses</a:t>
            </a:r>
            <a:r>
              <a:rPr lang="en-US" dirty="0">
                <a:solidFill>
                  <a:schemeClr val="dk1"/>
                </a:solidFill>
              </a:rPr>
              <a:t> nye </a:t>
            </a:r>
            <a:r>
              <a:rPr lang="en-US" dirty="0" err="1">
                <a:solidFill>
                  <a:schemeClr val="dk1"/>
                </a:solidFill>
              </a:rPr>
              <a:t>trusler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en-US" dirty="0" err="1">
                <a:solidFill>
                  <a:schemeClr val="dk1"/>
                </a:solidFill>
              </a:rPr>
              <a:t>risici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og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erfaringer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fra</a:t>
            </a:r>
            <a:r>
              <a:rPr lang="en-US" dirty="0">
                <a:solidFill>
                  <a:schemeClr val="dk1"/>
                </a:solidFill>
              </a:rPr>
              <a:t> audits.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C101D-960F-0024-A4E6-377CB2480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50464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6D5EA-1A73-D1AC-6B07-9C1C9C274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89D31-0184-6C66-A4A1-F76C8F347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EC0B7-9A64-9870-72E7-07AB7770C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Dataudvekslingen understøtter blandt andet:</a:t>
            </a:r>
          </a:p>
          <a:p>
            <a:r>
              <a:rPr lang="da-DK" b="0" dirty="0"/>
              <a:t>• Koordinering af driften i realtid</a:t>
            </a:r>
          </a:p>
          <a:p>
            <a:r>
              <a:rPr lang="da-DK" b="0" dirty="0"/>
              <a:t>• Overblik over kapacitetsdata og tilgængelighed</a:t>
            </a:r>
          </a:p>
          <a:p>
            <a:r>
              <a:rPr lang="da-DK" b="0" dirty="0"/>
              <a:t>• Videregivelse af alarmer og hændelsesmeldinger</a:t>
            </a:r>
          </a:p>
          <a:p>
            <a:r>
              <a:rPr lang="da-DK" b="0" dirty="0"/>
              <a:t>• Deltagelse i balanceringsaktiviteter på elmarkedet</a:t>
            </a:r>
            <a:endParaRPr lang="en-DK" b="0" dirty="0"/>
          </a:p>
          <a:p>
            <a:endParaRPr lang="en-DK" b="0" dirty="0"/>
          </a:p>
          <a:p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forudsætninger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44092-3FB7-2A12-D210-FE8916283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97166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9C33-2FB7-1CF8-F86B-F10FDB0C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2537F-B1FF-1113-AC79-150D135CC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58A38-8406-018E-5E85-A12064A2C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IT-beredskabsplanen skal afprøves mindst en gang om året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så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få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testet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finde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fejl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mangler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eller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noget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ikke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stemmer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ordenligt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mere.</a:t>
            </a:r>
          </a:p>
          <a:p>
            <a:endParaRPr lang="en-DK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skrivebordstest er en afprøvning, hvor ledelsen gennemgår og vurderer om it-beredskabsplanen er beskrevet tilstrækkeligt og kan vurderes som dækkende for ledelsens forventninger til reetablering af it-anvendelsen. Testen kan omfatte hele eller udvalgte dele af it-beredskabsplanen.</a:t>
            </a:r>
            <a:endParaRPr lang="en-DK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K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Nikolaj: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siger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 er </a:t>
            </a:r>
            <a:r>
              <a:rPr lang="en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fordi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så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tester man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planen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Andre: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siger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 er </a:t>
            </a:r>
            <a:r>
              <a:rPr lang="en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fordi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 er der man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evaluere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planen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7BF8C-3902-495E-ABA5-4572DA8D2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16217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Autofit/>
          </a:bodyPr>
          <a:lstStyle/>
          <a:p>
            <a:pPr algn="l"/>
            <a:r>
              <a:rPr lang="da-DK" sz="3600" noProof="0" dirty="0">
                <a:solidFill>
                  <a:schemeClr val="bg1"/>
                </a:solidFill>
              </a:rPr>
              <a:t>Hvordan etableres og vedligeholdes et beredskab for informationssikkerhedshændels</a:t>
            </a:r>
            <a:r>
              <a:rPr lang="en-DK" sz="3600" noProof="0" dirty="0">
                <a:solidFill>
                  <a:schemeClr val="bg1"/>
                </a:solidFill>
              </a:rPr>
              <a:t>e</a:t>
            </a:r>
            <a:r>
              <a:rPr lang="da-DK" sz="3600" noProof="0" dirty="0">
                <a:solidFill>
                  <a:schemeClr val="bg1"/>
                </a:solidFill>
              </a:rPr>
              <a:t>r gennem PDCA</a:t>
            </a:r>
            <a:r>
              <a:rPr lang="en-DK" sz="3600" noProof="0" dirty="0">
                <a:solidFill>
                  <a:schemeClr val="bg1"/>
                </a:solidFill>
              </a:rPr>
              <a:t>-</a:t>
            </a:r>
            <a:r>
              <a:rPr lang="da-DK" sz="3600" noProof="0" dirty="0">
                <a:solidFill>
                  <a:schemeClr val="bg1"/>
                </a:solidFill>
              </a:rPr>
              <a:t>cyklussen i en organisation?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6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noProof="0" dirty="0">
                <a:solidFill>
                  <a:schemeClr val="bg1"/>
                </a:solidFill>
              </a:rPr>
              <a:t>PDCA</a:t>
            </a:r>
            <a:r>
              <a:rPr lang="en-DK" sz="2600" noProof="0" dirty="0">
                <a:solidFill>
                  <a:schemeClr val="bg1"/>
                </a:solidFill>
              </a:rPr>
              <a:t>-</a:t>
            </a:r>
            <a:r>
              <a:rPr lang="en-US" sz="2600" noProof="0" dirty="0" err="1">
                <a:solidFill>
                  <a:schemeClr val="bg1"/>
                </a:solidFill>
              </a:rPr>
              <a:t>modellen</a:t>
            </a:r>
            <a:endParaRPr lang="en-DK" sz="2600" noProof="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 err="1">
                <a:solidFill>
                  <a:schemeClr val="bg1"/>
                </a:solidFill>
              </a:rPr>
              <a:t>Beredskabsplan</a:t>
            </a:r>
            <a:endParaRPr lang="en-DK" sz="260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noProof="0" dirty="0" err="1">
                <a:solidFill>
                  <a:schemeClr val="bg1"/>
                </a:solidFill>
              </a:rPr>
              <a:t>Beredskabs</a:t>
            </a:r>
            <a:r>
              <a:rPr lang="en-DK" sz="2600" noProof="0" dirty="0">
                <a:solidFill>
                  <a:schemeClr val="bg1"/>
                </a:solidFill>
              </a:rPr>
              <a:t> test</a:t>
            </a:r>
            <a:endParaRPr lang="da-DK" sz="2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5D69B-8DFE-8606-D82B-2CE3A59E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2EC0-EAE4-3E06-DBBC-1FFA7F5A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NordEnergiNet A/S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FB8F-DD67-34BA-D048-6F92962D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Hvem</a:t>
            </a:r>
            <a:r>
              <a:rPr lang="en-DK" dirty="0">
                <a:solidFill>
                  <a:schemeClr val="bg1"/>
                </a:solidFill>
              </a:rPr>
              <a:t> er </a:t>
            </a:r>
            <a:r>
              <a:rPr lang="da-DK" dirty="0">
                <a:solidFill>
                  <a:schemeClr val="bg1"/>
                </a:solidFill>
              </a:rPr>
              <a:t>NordEnergiNet A/S</a:t>
            </a:r>
            <a:r>
              <a:rPr lang="en-DK" dirty="0">
                <a:solidFill>
                  <a:schemeClr val="bg1"/>
                </a:solidFill>
              </a:rPr>
              <a:t>?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Hændelse</a:t>
            </a:r>
            <a:endParaRPr lang="da-DK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AE8148-AC63-7520-DE47-64EAF7064974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87511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58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3175A-7007-3DCB-0DEC-848C4970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C4625-C969-BA99-295C-82E6E7E9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PDCA-modellen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C665-AC68-2CE6-2E80-92294E48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Plan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Do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Check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Act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9B18A6-2FBC-0F3E-6239-ED89525326C2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87511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lan-Do-Check-Act Cycle PDCA Cycle design transparent background ...">
            <a:extLst>
              <a:ext uri="{FF2B5EF4-FFF2-40B4-BE49-F238E27FC236}">
                <a16:creationId xmlns:a16="http://schemas.microsoft.com/office/drawing/2014/main" id="{27CFBA99-532B-A415-C22A-D9E0036E1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996" y="1341596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83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199B4-2D3B-97F4-5664-89D4165E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A09D-F32C-2BAD-202D-E2468E86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Beredskabsplan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E892B-16DB-D840-1C80-33C67BDBF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noProof="0" dirty="0" err="1">
                <a:solidFill>
                  <a:schemeClr val="bg1"/>
                </a:solidFill>
              </a:rPr>
              <a:t>Kritiske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systemer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noProof="0" dirty="0">
                <a:solidFill>
                  <a:schemeClr val="bg1"/>
                </a:solidFill>
              </a:rPr>
              <a:t>Systemintegration mellem NordEnergiNet og Energinet</a:t>
            </a:r>
          </a:p>
          <a:p>
            <a:pPr lvl="1"/>
            <a:r>
              <a:rPr lang="da-DK" noProof="0" dirty="0">
                <a:solidFill>
                  <a:schemeClr val="bg1"/>
                </a:solidFill>
              </a:rPr>
              <a:t>Virksomhedens interne netværk og servermiljøer via fjernadgang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en-DK" noProof="0" dirty="0">
                <a:solidFill>
                  <a:schemeClr val="bg1"/>
                </a:solidFill>
              </a:rPr>
              <a:t>SCADA drifts </a:t>
            </a:r>
            <a:r>
              <a:rPr lang="en-DK" noProof="0" dirty="0" err="1">
                <a:solidFill>
                  <a:schemeClr val="bg1"/>
                </a:solidFill>
              </a:rPr>
              <a:t>systemer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noProof="0" dirty="0">
                <a:solidFill>
                  <a:schemeClr val="bg1"/>
                </a:solidFill>
              </a:rPr>
              <a:t>Roller og ansvar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RTO/RPO og backup</a:t>
            </a:r>
            <a:endParaRPr lang="en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22CA4E-FC7E-856A-DC7B-967687C963E7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87511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2C5AF9C0-0914-0FD6-E71E-E2F2B05F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925" y="3607725"/>
            <a:ext cx="7400075" cy="325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25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F51C9-83A5-7C88-7B20-E622E297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DCE2-3798-CDE5-D5C5-A91808B8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Beredskabs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FFC1E-03C3-88AA-31D1-ADF8D1C4E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dirty="0" err="1">
                <a:solidFill>
                  <a:schemeClr val="bg1"/>
                </a:solidFill>
              </a:rPr>
              <a:t>Hvor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ofte</a:t>
            </a:r>
            <a:r>
              <a:rPr lang="en-DK" dirty="0">
                <a:solidFill>
                  <a:schemeClr val="bg1"/>
                </a:solidFill>
              </a:rPr>
              <a:t> tester man </a:t>
            </a:r>
            <a:r>
              <a:rPr lang="en-DK" dirty="0" err="1">
                <a:solidFill>
                  <a:schemeClr val="bg1"/>
                </a:solidFill>
              </a:rPr>
              <a:t>en</a:t>
            </a:r>
            <a:r>
              <a:rPr lang="en-DK" dirty="0">
                <a:solidFill>
                  <a:schemeClr val="bg1"/>
                </a:solidFill>
              </a:rPr>
              <a:t> b</a:t>
            </a:r>
            <a:r>
              <a:rPr lang="da-DK" dirty="0">
                <a:solidFill>
                  <a:schemeClr val="bg1"/>
                </a:solidFill>
              </a:rPr>
              <a:t>eredskabs</a:t>
            </a:r>
            <a:r>
              <a:rPr lang="en-DK" dirty="0">
                <a:solidFill>
                  <a:schemeClr val="bg1"/>
                </a:solidFill>
              </a:rPr>
              <a:t>plan?</a:t>
            </a:r>
          </a:p>
          <a:p>
            <a:r>
              <a:rPr lang="en-DK" dirty="0" err="1">
                <a:solidFill>
                  <a:schemeClr val="bg1"/>
                </a:solidFill>
              </a:rPr>
              <a:t>Hvordan</a:t>
            </a:r>
            <a:r>
              <a:rPr lang="en-DK" dirty="0">
                <a:solidFill>
                  <a:schemeClr val="bg1"/>
                </a:solidFill>
              </a:rPr>
              <a:t> tester man </a:t>
            </a:r>
            <a:r>
              <a:rPr lang="en-DK" dirty="0" err="1">
                <a:solidFill>
                  <a:schemeClr val="bg1"/>
                </a:solidFill>
              </a:rPr>
              <a:t>en</a:t>
            </a:r>
            <a:r>
              <a:rPr lang="en-DK" dirty="0">
                <a:solidFill>
                  <a:schemeClr val="bg1"/>
                </a:solidFill>
              </a:rPr>
              <a:t> b</a:t>
            </a:r>
            <a:r>
              <a:rPr lang="da-DK" dirty="0">
                <a:solidFill>
                  <a:schemeClr val="bg1"/>
                </a:solidFill>
              </a:rPr>
              <a:t>eredskabs</a:t>
            </a:r>
            <a:r>
              <a:rPr lang="en-DK" dirty="0">
                <a:solidFill>
                  <a:schemeClr val="bg1"/>
                </a:solidFill>
              </a:rPr>
              <a:t>plan?</a:t>
            </a:r>
          </a:p>
          <a:p>
            <a:pPr lvl="1"/>
            <a:r>
              <a:rPr lang="en-DK" dirty="0">
                <a:solidFill>
                  <a:schemeClr val="bg1"/>
                </a:solidFill>
              </a:rPr>
              <a:t>S</a:t>
            </a:r>
            <a:r>
              <a:rPr lang="da-DK" dirty="0">
                <a:solidFill>
                  <a:schemeClr val="bg1"/>
                </a:solidFill>
              </a:rPr>
              <a:t>krivebordsøvelse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noProof="0" dirty="0">
                <a:solidFill>
                  <a:schemeClr val="bg1"/>
                </a:solidFill>
              </a:rPr>
              <a:t>Fuldskalaøvelse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en-US" noProof="0" dirty="0" err="1">
                <a:solidFill>
                  <a:schemeClr val="bg1"/>
                </a:solidFill>
              </a:rPr>
              <a:t>Checklistebaseret</a:t>
            </a:r>
            <a:r>
              <a:rPr lang="en-US" noProof="0" dirty="0">
                <a:solidFill>
                  <a:schemeClr val="bg1"/>
                </a:solidFill>
              </a:rPr>
              <a:t> test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en-US" noProof="0" dirty="0" err="1">
                <a:solidFill>
                  <a:schemeClr val="bg1"/>
                </a:solidFill>
              </a:rPr>
              <a:t>Overraskelsestest</a:t>
            </a:r>
            <a:endParaRPr lang="en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AA8392-C51F-2F94-1D79-B587BE2B25BD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87511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09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8625</TotalTime>
  <Words>504</Words>
  <Application>Microsoft Office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Hvordan etableres og vedligeholdes et beredskab for informationssikkerhedshændelser gennem PDCA-cyklussen i en organisation?</vt:lpstr>
      <vt:lpstr>Agenda</vt:lpstr>
      <vt:lpstr>NordEnergiNet A/S</vt:lpstr>
      <vt:lpstr>PDCA-modellen</vt:lpstr>
      <vt:lpstr>Beredskabsplan</vt:lpstr>
      <vt:lpstr>Beredskabs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411</cp:revision>
  <dcterms:created xsi:type="dcterms:W3CDTF">2025-11-06T19:46:54Z</dcterms:created>
  <dcterms:modified xsi:type="dcterms:W3CDTF">2025-12-17T08:42:10Z</dcterms:modified>
</cp:coreProperties>
</file>