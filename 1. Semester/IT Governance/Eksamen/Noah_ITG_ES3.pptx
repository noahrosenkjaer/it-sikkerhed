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67" r:id="rId4"/>
    <p:sldId id="266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SAMSIK = </a:t>
            </a:r>
            <a:r>
              <a:rPr lang="en-DK" dirty="0" err="1"/>
              <a:t>Styrelsen</a:t>
            </a:r>
            <a:r>
              <a:rPr lang="en-DK" dirty="0"/>
              <a:t> for </a:t>
            </a:r>
            <a:r>
              <a:rPr lang="en-DK" dirty="0" err="1"/>
              <a:t>samfundssikkerhed</a:t>
            </a:r>
            <a:r>
              <a:rPr lang="en-DK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17B26-8F1B-F380-CE32-067F24F9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3211B-28CC-08C9-BA1C-8AC212242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DCCD9-0A57-0753-F3F0-D31FEFC4A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NordEnergiNet A/S kun står for en overvågningen af elnettet i en del af Danmark, så samarbejder de med Energinet A/S som varetager den overordnede el-infrastruktur i Danmark. En del af virksomhedens systemer er integreret med Energinets overvågnings- og planlægningssystemer, som facilitere dataudveksling i forhold til driftsdata, kapacitetsmålinger, alarmer og hændelsesinformation. Dette hjælper begge parter da, downtime på det overordnede el-net kan have effekter på det som NordEnergiNet A/S står for, og omvendt.</a:t>
            </a:r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9B2DA-E856-C439-8D7A-56F18564C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759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6642-45DF-DA64-6904-DC4E8FB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4E56-6BE8-0343-6E29-E2E7A4A4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7FDA-BED5-7C08-8EAA-D5799AAB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Cybertruslen mod den danske energisektor har været alvorlig siden 2018 og </a:t>
            </a:r>
            <a:r>
              <a:rPr lang="da-DK" dirty="0">
                <a:effectLst/>
              </a:rPr>
              <a:t>er blevet mere kompleks</a:t>
            </a:r>
            <a:r>
              <a:rPr lang="da-DK" dirty="0"/>
              <a:t>. Sektoren må forsvare sig mod </a:t>
            </a:r>
            <a:r>
              <a:rPr lang="da-DK" dirty="0">
                <a:effectLst/>
              </a:rPr>
              <a:t>statslige aktører, cyberkriminelle og aktivister</a:t>
            </a:r>
            <a:r>
              <a:rPr lang="da-DK" dirty="0"/>
              <a:t> med forskellige motiver. Truslen fra </a:t>
            </a:r>
            <a:r>
              <a:rPr lang="da-DK" b="1" dirty="0"/>
              <a:t>cyberspionage</a:t>
            </a:r>
            <a:r>
              <a:rPr lang="da-DK" dirty="0"/>
              <a:t> og </a:t>
            </a:r>
            <a:r>
              <a:rPr lang="da-DK" b="1" dirty="0"/>
              <a:t>cyberkriminalitet</a:t>
            </a:r>
            <a:r>
              <a:rPr lang="da-DK" dirty="0"/>
              <a:t> er fortsat </a:t>
            </a:r>
            <a:r>
              <a:rPr lang="da-DK" b="1" dirty="0">
                <a:effectLst/>
              </a:rPr>
              <a:t>meget høj</a:t>
            </a:r>
            <a:r>
              <a:rPr lang="da-DK" dirty="0"/>
              <a:t>, da både stater og kriminelle har interesse i at angribe energiselskaber.</a:t>
            </a:r>
            <a:endParaRPr lang="en-DK" b="0" dirty="0"/>
          </a:p>
          <a:p>
            <a:endParaRPr lang="en-DK" b="0" dirty="0"/>
          </a:p>
          <a:p>
            <a:r>
              <a:rPr lang="da-DK" dirty="0"/>
              <a:t>Krigen i Ukraine har øget frygten for cyberangreb, men truslen mod dansk energisektor er fortsat lav – selvom Rusland har kapaciteten, mangler de sandsynligvis intentionen.</a:t>
            </a:r>
            <a:endParaRPr lang="en-DK" dirty="0"/>
          </a:p>
          <a:p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/>
              <a:t>SAMSIK- “</a:t>
            </a:r>
            <a:r>
              <a:rPr lang="da-DK" b="0" dirty="0"/>
              <a:t>At trusselsniveauet er lavt betyder, at det er mindre sandsynligt – ikke usandsynligt</a:t>
            </a:r>
            <a:r>
              <a:rPr lang="en-DK" b="0" dirty="0"/>
              <a:t>”</a:t>
            </a:r>
            <a:endParaRPr lang="da-DK" b="0" dirty="0"/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7FF2-BFAF-333E-77D0-9525416A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3227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796B-7BAB-9459-B7FB-482FA100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7B993-73EE-6E4E-F6BA-BE05F0642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CFC5A-8F1A-89F8-EE44-4BA63BD78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MITRE ATT&amp;CK®</a:t>
            </a:r>
            <a:r>
              <a:rPr lang="en-US" dirty="0"/>
              <a:t> (Adversarial Tactics, Techniques, and Common Knowledge)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globalt</a:t>
            </a:r>
            <a:r>
              <a:rPr lang="en-US" b="1" dirty="0"/>
              <a:t> </a:t>
            </a:r>
            <a:r>
              <a:rPr lang="en-US" b="1" dirty="0" err="1"/>
              <a:t>tilgængelig</a:t>
            </a:r>
            <a:r>
              <a:rPr lang="en-US" b="1" dirty="0"/>
              <a:t> </a:t>
            </a:r>
            <a:r>
              <a:rPr lang="en-US" b="1" dirty="0" err="1"/>
              <a:t>videnbase</a:t>
            </a:r>
            <a:r>
              <a:rPr lang="en-US" dirty="0"/>
              <a:t>, der </a:t>
            </a:r>
            <a:r>
              <a:rPr lang="en-US" dirty="0" err="1"/>
              <a:t>beskriver</a:t>
            </a:r>
            <a:r>
              <a:rPr lang="en-US" dirty="0"/>
              <a:t> </a:t>
            </a:r>
            <a:r>
              <a:rPr lang="en-US" dirty="0" err="1"/>
              <a:t>fjendtlige</a:t>
            </a:r>
            <a:r>
              <a:rPr lang="en-US" dirty="0"/>
              <a:t> </a:t>
            </a:r>
            <a:r>
              <a:rPr lang="en-US" dirty="0" err="1"/>
              <a:t>taktikker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teknikker</a:t>
            </a:r>
            <a:r>
              <a:rPr lang="en-US" dirty="0"/>
              <a:t> </a:t>
            </a:r>
            <a:r>
              <a:rPr lang="en-US" dirty="0" err="1"/>
              <a:t>baseret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virkelige</a:t>
            </a:r>
            <a:r>
              <a:rPr lang="en-US" dirty="0"/>
              <a:t> </a:t>
            </a:r>
            <a:r>
              <a:rPr lang="en-US" dirty="0" err="1"/>
              <a:t>observationer</a:t>
            </a:r>
            <a:r>
              <a:rPr lang="en-US" dirty="0"/>
              <a:t>. Den </a:t>
            </a:r>
            <a:r>
              <a:rPr lang="en-US" dirty="0" err="1"/>
              <a:t>bruges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grundlag</a:t>
            </a:r>
            <a:r>
              <a:rPr lang="en-US" dirty="0"/>
              <a:t> for </a:t>
            </a:r>
            <a:r>
              <a:rPr lang="en-US" dirty="0" err="1"/>
              <a:t>trusselsinformation</a:t>
            </a:r>
            <a:r>
              <a:rPr lang="en-US" dirty="0"/>
              <a:t>, </a:t>
            </a:r>
            <a:r>
              <a:rPr lang="en-US" dirty="0" err="1"/>
              <a:t>detektion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respons</a:t>
            </a:r>
            <a:r>
              <a:rPr lang="en-US" dirty="0"/>
              <a:t> </a:t>
            </a:r>
            <a:r>
              <a:rPr lang="en-US" dirty="0" err="1"/>
              <a:t>inden</a:t>
            </a:r>
            <a:r>
              <a:rPr lang="en-US" dirty="0"/>
              <a:t> for </a:t>
            </a:r>
            <a:r>
              <a:rPr lang="en-US" dirty="0" err="1"/>
              <a:t>cybersikkerhed</a:t>
            </a:r>
            <a:r>
              <a:rPr lang="en-US" dirty="0"/>
              <a:t>.</a:t>
            </a:r>
            <a:endParaRPr lang="en-DK" b="0" dirty="0"/>
          </a:p>
          <a:p>
            <a:endParaRPr lang="en-DK" b="0" dirty="0"/>
          </a:p>
          <a:p>
            <a:r>
              <a:rPr lang="en-DK" b="0" dirty="0" err="1"/>
              <a:t>Hvis</a:t>
            </a:r>
            <a:r>
              <a:rPr lang="en-DK" b="0" dirty="0"/>
              <a:t> man </a:t>
            </a:r>
            <a:r>
              <a:rPr lang="en-DK" b="0" dirty="0" err="1"/>
              <a:t>kigger</a:t>
            </a:r>
            <a:r>
              <a:rPr lang="en-DK" b="0" dirty="0"/>
              <a:t> </a:t>
            </a:r>
            <a:r>
              <a:rPr lang="en-DK" b="0" dirty="0" err="1"/>
              <a:t>på</a:t>
            </a:r>
            <a:r>
              <a:rPr lang="en-DK" b="0" dirty="0"/>
              <a:t> sandworm team (</a:t>
            </a:r>
            <a:r>
              <a:rPr lang="en-DK" b="0" dirty="0" err="1"/>
              <a:t>Russisk</a:t>
            </a:r>
            <a:r>
              <a:rPr lang="en-DK" b="0" dirty="0"/>
              <a:t>) </a:t>
            </a:r>
            <a:r>
              <a:rPr lang="en-DK" b="0" dirty="0" err="1"/>
              <a:t>så</a:t>
            </a:r>
            <a:r>
              <a:rPr lang="en-DK" b="0" dirty="0"/>
              <a:t> er de </a:t>
            </a:r>
            <a:r>
              <a:rPr lang="en-DK" b="0" dirty="0" err="1"/>
              <a:t>kendte</a:t>
            </a:r>
            <a:r>
              <a:rPr lang="en-DK" b="0" dirty="0"/>
              <a:t> for at </a:t>
            </a:r>
            <a:r>
              <a:rPr lang="en-DK" b="0" dirty="0" err="1"/>
              <a:t>angribe</a:t>
            </a:r>
            <a:r>
              <a:rPr lang="en-DK" b="0" dirty="0"/>
              <a:t> </a:t>
            </a:r>
            <a:r>
              <a:rPr lang="en-DK" b="0" dirty="0" err="1"/>
              <a:t>ukrainsk</a:t>
            </a:r>
            <a:r>
              <a:rPr lang="en-DK" b="0" dirty="0"/>
              <a:t> </a:t>
            </a:r>
            <a:r>
              <a:rPr lang="en-DK" b="0" dirty="0" err="1"/>
              <a:t>kritisk</a:t>
            </a:r>
            <a:r>
              <a:rPr lang="en-DK" b="0" dirty="0"/>
              <a:t> </a:t>
            </a:r>
            <a:r>
              <a:rPr lang="en-DK" b="0" dirty="0" err="1"/>
              <a:t>infrastruktur</a:t>
            </a:r>
            <a:r>
              <a:rPr lang="en-DK" b="0" dirty="0"/>
              <a:t>, b</a:t>
            </a:r>
            <a:r>
              <a:rPr lang="en-US" b="0" dirty="0"/>
              <a:t>a</a:t>
            </a:r>
            <a:r>
              <a:rPr lang="en-DK" b="0" dirty="0"/>
              <a:t>de </a:t>
            </a:r>
            <a:r>
              <a:rPr lang="en-DK" b="0" dirty="0" err="1"/>
              <a:t>før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efter</a:t>
            </a:r>
            <a:r>
              <a:rPr lang="en-DK" b="0" dirty="0"/>
              <a:t>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461C-157C-290E-F798-4DCE7AD48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7200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24DE-9FB3-04DF-4CE0-2FF00958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E0712-6A81-A676-B1A8-ED5B38D10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BDD6D-B8CC-6FF1-41D3-41A0E1C56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0" dirty="0" err="1"/>
              <a:t>Metoder</a:t>
            </a:r>
            <a:r>
              <a:rPr lang="en-DK" b="0" dirty="0"/>
              <a:t>:</a:t>
            </a:r>
            <a:br>
              <a:rPr lang="en-DK" b="0" dirty="0"/>
            </a:br>
            <a:r>
              <a:rPr lang="en-US" b="1" dirty="0" err="1"/>
              <a:t>Falske</a:t>
            </a:r>
            <a:r>
              <a:rPr lang="en-US" b="1" dirty="0"/>
              <a:t> </a:t>
            </a:r>
            <a:r>
              <a:rPr lang="en-US" b="1" dirty="0" err="1"/>
              <a:t>domæner</a:t>
            </a:r>
            <a:r>
              <a:rPr lang="en-US" b="1" dirty="0"/>
              <a:t> </a:t>
            </a:r>
            <a:r>
              <a:rPr lang="en-US" b="1" dirty="0" err="1"/>
              <a:t>og</a:t>
            </a:r>
            <a:r>
              <a:rPr lang="en-US" b="1" dirty="0"/>
              <a:t> URLs</a:t>
            </a:r>
            <a:r>
              <a:rPr lang="en-DK" b="1" dirty="0"/>
              <a:t>:</a:t>
            </a:r>
            <a:r>
              <a:rPr lang="en-DK" b="0" dirty="0"/>
              <a:t> </a:t>
            </a:r>
            <a:r>
              <a:rPr lang="en-US" dirty="0"/>
              <a:t>De </a:t>
            </a:r>
            <a:r>
              <a:rPr lang="en-US" dirty="0" err="1"/>
              <a:t>registrerer</a:t>
            </a:r>
            <a:r>
              <a:rPr lang="en-US" dirty="0"/>
              <a:t> </a:t>
            </a:r>
            <a:r>
              <a:rPr lang="en-US" dirty="0" err="1"/>
              <a:t>domæner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opretter</a:t>
            </a:r>
            <a:r>
              <a:rPr lang="en-US" dirty="0"/>
              <a:t> links, der </a:t>
            </a:r>
            <a:r>
              <a:rPr lang="en-US" dirty="0" err="1"/>
              <a:t>efterligner</a:t>
            </a:r>
            <a:r>
              <a:rPr lang="en-US" dirty="0"/>
              <a:t> legitime </a:t>
            </a:r>
            <a:r>
              <a:rPr lang="en-US" dirty="0" err="1"/>
              <a:t>hjemmesider</a:t>
            </a:r>
            <a:r>
              <a:rPr lang="en-US" dirty="0"/>
              <a:t> – </a:t>
            </a:r>
            <a:r>
              <a:rPr lang="en-US" dirty="0" err="1"/>
              <a:t>såsom</a:t>
            </a:r>
            <a:r>
              <a:rPr lang="en-US" dirty="0"/>
              <a:t> login-sider, </a:t>
            </a:r>
            <a:r>
              <a:rPr lang="en-US" dirty="0" err="1"/>
              <a:t>fildelingsplatforme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adgangskode-nulstillingsider</a:t>
            </a:r>
            <a:endParaRPr lang="en-DK" dirty="0"/>
          </a:p>
          <a:p>
            <a:r>
              <a:rPr lang="en-US" b="1" dirty="0" err="1"/>
              <a:t>Indirekte</a:t>
            </a:r>
            <a:r>
              <a:rPr lang="en-US" b="1" dirty="0"/>
              <a:t> </a:t>
            </a:r>
            <a:r>
              <a:rPr lang="en-US" b="1" dirty="0" err="1"/>
              <a:t>serverleje</a:t>
            </a:r>
            <a:r>
              <a:rPr lang="en-DK" b="1" dirty="0"/>
              <a:t>:</a:t>
            </a:r>
            <a:r>
              <a:rPr lang="en-DK" b="0" dirty="0"/>
              <a:t> De b</a:t>
            </a:r>
            <a:r>
              <a:rPr lang="en-US" b="0" dirty="0" err="1"/>
              <a:t>ur</a:t>
            </a:r>
            <a:r>
              <a:rPr lang="en-DK" b="0" dirty="0"/>
              <a:t>ger </a:t>
            </a:r>
            <a:r>
              <a:rPr lang="en-DK" b="0" dirty="0" err="1"/>
              <a:t>fremlejere</a:t>
            </a:r>
            <a:r>
              <a:rPr lang="en-DK" b="0" dirty="0"/>
              <a:t>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lejer</a:t>
            </a:r>
            <a:r>
              <a:rPr lang="en-DK" b="0" dirty="0"/>
              <a:t> </a:t>
            </a:r>
            <a:r>
              <a:rPr lang="en-DK" b="0" dirty="0" err="1"/>
              <a:t>servere</a:t>
            </a:r>
            <a:r>
              <a:rPr lang="en-DK" b="0" dirty="0"/>
              <a:t> </a:t>
            </a:r>
            <a:r>
              <a:rPr lang="en-DK" b="0" dirty="0" err="1"/>
              <a:t>ud</a:t>
            </a:r>
            <a:r>
              <a:rPr lang="en-DK" b="0" dirty="0"/>
              <a:t>, </a:t>
            </a:r>
            <a:r>
              <a:rPr lang="en-DK" b="0" dirty="0" err="1"/>
              <a:t>så</a:t>
            </a:r>
            <a:r>
              <a:rPr lang="en-DK" b="0" dirty="0"/>
              <a:t> de </a:t>
            </a:r>
            <a:r>
              <a:rPr lang="en-DK" b="0" dirty="0" err="1"/>
              <a:t>har</a:t>
            </a:r>
            <a:r>
              <a:rPr lang="en-DK" b="0" dirty="0"/>
              <a:t> </a:t>
            </a:r>
            <a:r>
              <a:rPr lang="en-DK" b="0" dirty="0" err="1"/>
              <a:t>aldrig</a:t>
            </a:r>
            <a:r>
              <a:rPr lang="en-DK" b="0" dirty="0"/>
              <a:t> </a:t>
            </a:r>
            <a:r>
              <a:rPr lang="en-DK" b="0" dirty="0" err="1"/>
              <a:t>i</a:t>
            </a:r>
            <a:r>
              <a:rPr lang="en-DK" b="0" dirty="0"/>
              <a:t> </a:t>
            </a:r>
            <a:r>
              <a:rPr lang="en-DK" b="0" dirty="0" err="1"/>
              <a:t>directe</a:t>
            </a:r>
            <a:r>
              <a:rPr lang="en-DK" b="0" dirty="0"/>
              <a:t> </a:t>
            </a:r>
            <a:r>
              <a:rPr lang="en-DK" b="0" dirty="0" err="1"/>
              <a:t>kontakt</a:t>
            </a:r>
            <a:r>
              <a:rPr lang="en-DK" b="0" dirty="0"/>
              <a:t> </a:t>
            </a:r>
            <a:r>
              <a:rPr lang="en-US" dirty="0" err="1"/>
              <a:t>hostingvirksomheder</a:t>
            </a:r>
            <a:r>
              <a:rPr lang="en-DK" dirty="0"/>
              <a:t>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C90A-E494-F413-0642-38A82389E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5135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E014-C0B4-2E18-F3C3-B75F7897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87E42-427E-17F2-54C2-4D56AB6C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CC27D-B0B6-4493-1616-0C92F882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/>
              <a:t>I </a:t>
            </a:r>
            <a:r>
              <a:rPr lang="en-DK" b="0" dirty="0" err="1"/>
              <a:t>vores</a:t>
            </a:r>
            <a:r>
              <a:rPr lang="en-DK" b="0" dirty="0"/>
              <a:t> </a:t>
            </a:r>
            <a:r>
              <a:rPr lang="en-DK" b="0" dirty="0" err="1"/>
              <a:t>risikovurdering</a:t>
            </a:r>
            <a:r>
              <a:rPr lang="en-DK" b="0" dirty="0"/>
              <a:t> finder vi </a:t>
            </a:r>
            <a:r>
              <a:rPr lang="en-DK" b="0" dirty="0" err="1"/>
              <a:t>frem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at phishing er </a:t>
            </a:r>
            <a:r>
              <a:rPr lang="en-DK" b="0" dirty="0" err="1"/>
              <a:t>en</a:t>
            </a:r>
            <a:r>
              <a:rPr lang="en-DK" b="0" dirty="0"/>
              <a:t> </a:t>
            </a:r>
            <a:r>
              <a:rPr lang="en-DK" b="0" dirty="0" err="1"/>
              <a:t>stor</a:t>
            </a:r>
            <a:r>
              <a:rPr lang="en-DK" b="0" dirty="0"/>
              <a:t> </a:t>
            </a:r>
            <a:r>
              <a:rPr lang="en-DK" b="0" dirty="0" err="1"/>
              <a:t>risiko</a:t>
            </a:r>
            <a:r>
              <a:rPr lang="en-DK" b="0" dirty="0"/>
              <a:t>, da der </a:t>
            </a:r>
            <a:r>
              <a:rPr lang="en-DK" b="0" dirty="0" err="1"/>
              <a:t>ingen</a:t>
            </a:r>
            <a:r>
              <a:rPr lang="en-DK" b="0" dirty="0"/>
              <a:t> </a:t>
            </a:r>
            <a:r>
              <a:rPr lang="en-DK" b="0" dirty="0" err="1"/>
              <a:t>træning</a:t>
            </a:r>
            <a:r>
              <a:rPr lang="en-DK" b="0" dirty="0"/>
              <a:t> </a:t>
            </a:r>
            <a:r>
              <a:rPr lang="en-DK" b="0" dirty="0" err="1"/>
              <a:t>i</a:t>
            </a:r>
            <a:r>
              <a:rPr lang="en-DK" b="0" dirty="0"/>
              <a:t> awareness er. </a:t>
            </a:r>
            <a:r>
              <a:rPr lang="en-DK" b="0" dirty="0" err="1"/>
              <a:t>Derfor</a:t>
            </a:r>
            <a:r>
              <a:rPr lang="en-DK" b="0" dirty="0"/>
              <a:t> er </a:t>
            </a:r>
            <a:r>
              <a:rPr lang="en-DK" b="0" dirty="0" err="1"/>
              <a:t>foranstaltningen</a:t>
            </a:r>
            <a:r>
              <a:rPr lang="en-DK" b="0" dirty="0"/>
              <a:t> 6.3 awareness </a:t>
            </a:r>
            <a:r>
              <a:rPr lang="en-DK" b="0" dirty="0" err="1"/>
              <a:t>træning</a:t>
            </a:r>
            <a:r>
              <a:rPr lang="en-DK" b="0" dirty="0"/>
              <a:t> </a:t>
            </a:r>
            <a:r>
              <a:rPr lang="en-DK" b="0" dirty="0" err="1"/>
              <a:t>meget</a:t>
            </a:r>
            <a:r>
              <a:rPr lang="en-DK" b="0" dirty="0"/>
              <a:t> relevant. Den er </a:t>
            </a:r>
            <a:r>
              <a:rPr lang="en-DK" b="0" dirty="0" err="1"/>
              <a:t>også</a:t>
            </a:r>
            <a:r>
              <a:rPr lang="en-DK" b="0" dirty="0"/>
              <a:t> </a:t>
            </a:r>
            <a:r>
              <a:rPr lang="en-DK" b="0" dirty="0" err="1"/>
              <a:t>taget</a:t>
            </a:r>
            <a:r>
              <a:rPr lang="en-DK" b="0" dirty="0"/>
              <a:t> med </a:t>
            </a:r>
            <a:r>
              <a:rPr lang="en-DK" b="0" dirty="0" err="1"/>
              <a:t>i</a:t>
            </a:r>
            <a:r>
              <a:rPr lang="en-DK" b="0" dirty="0"/>
              <a:t> </a:t>
            </a:r>
            <a:r>
              <a:rPr lang="en-DK" b="0" dirty="0" err="1"/>
              <a:t>vores</a:t>
            </a:r>
            <a:r>
              <a:rPr lang="en-DK" b="0" dirty="0"/>
              <a:t> SOA do</a:t>
            </a:r>
            <a:r>
              <a:rPr lang="en-US" b="0" dirty="0"/>
              <a:t>c</a:t>
            </a:r>
            <a:r>
              <a:rPr lang="en-DK" b="0" dirty="0" err="1"/>
              <a:t>ument</a:t>
            </a:r>
            <a:r>
              <a:rPr lang="en-DK" b="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0" dirty="0"/>
              <a:t>SAMSIK- “</a:t>
            </a:r>
            <a:r>
              <a:rPr lang="da-DK" b="0" dirty="0"/>
              <a:t>At trusselsniveauet er lavt betyder, at det er mindre sandsynligt – ikke usandsynligt</a:t>
            </a:r>
            <a:r>
              <a:rPr lang="en-DK" b="0" dirty="0"/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="0"/>
              <a:t>Personrelaterede foranstaltninger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2A3FB-B065-FA42-3BBB-FC5231D7A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7927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Autofit/>
          </a:bodyPr>
          <a:lstStyle/>
          <a:p>
            <a:pPr algn="l"/>
            <a:r>
              <a:rPr lang="da-DK" sz="3600" noProof="0" dirty="0">
                <a:solidFill>
                  <a:schemeClr val="bg1"/>
                </a:solidFill>
              </a:rPr>
              <a:t>Hvordan identificerer og håndterer man det aktuelle trusselsbillede, herunder trusselsaktører, for at</a:t>
            </a:r>
            <a:br>
              <a:rPr lang="da-DK" sz="3600" noProof="0" dirty="0">
                <a:solidFill>
                  <a:schemeClr val="bg1"/>
                </a:solidFill>
              </a:rPr>
            </a:br>
            <a:r>
              <a:rPr lang="da-DK" sz="3600" noProof="0" dirty="0">
                <a:solidFill>
                  <a:schemeClr val="bg1"/>
                </a:solidFill>
              </a:rPr>
              <a:t>informere sikkerhedsbeslutninger i en virksomhed som NordEnergiNet A/S?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noProof="0" dirty="0">
                <a:solidFill>
                  <a:schemeClr val="bg1"/>
                </a:solidFill>
              </a:rPr>
              <a:t>NordEnergiNet A/S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SAMSIK(</a:t>
            </a:r>
            <a:r>
              <a:rPr lang="en-US" sz="2600" dirty="0">
                <a:solidFill>
                  <a:schemeClr val="bg1"/>
                </a:solidFill>
              </a:rPr>
              <a:t>CFCS</a:t>
            </a:r>
            <a:r>
              <a:rPr lang="en-DK" sz="26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200" dirty="0" err="1">
                <a:solidFill>
                  <a:schemeClr val="bg1"/>
                </a:solidFill>
              </a:rPr>
              <a:t>Trusselsvurdering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1"/>
                </a:solidFill>
              </a:rPr>
              <a:t>MITRE ATT&amp;CK</a:t>
            </a:r>
            <a:endParaRPr lang="en-DK" sz="2600" dirty="0">
              <a:solidFill>
                <a:schemeClr val="bg1"/>
              </a:solidFill>
            </a:endParaRPr>
          </a:p>
          <a:p>
            <a:pPr lvl="1"/>
            <a:r>
              <a:rPr lang="da-DK" sz="2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Sandworm</a:t>
            </a:r>
            <a:r>
              <a:rPr lang="en-DK" sz="2200" dirty="0">
                <a:solidFill>
                  <a:schemeClr val="bg1"/>
                </a:solidFill>
              </a:rPr>
              <a:t> team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 err="1">
                <a:solidFill>
                  <a:schemeClr val="bg1"/>
                </a:solidFill>
              </a:rPr>
              <a:t>Risikovurdering</a:t>
            </a:r>
            <a:r>
              <a:rPr lang="en-DK" sz="2600" dirty="0">
                <a:solidFill>
                  <a:schemeClr val="bg1"/>
                </a:solidFill>
              </a:rPr>
              <a:t> </a:t>
            </a:r>
            <a:r>
              <a:rPr lang="en-DK" sz="2600" dirty="0" err="1">
                <a:solidFill>
                  <a:schemeClr val="bg1"/>
                </a:solidFill>
              </a:rPr>
              <a:t>og</a:t>
            </a:r>
            <a:r>
              <a:rPr lang="en-DK" sz="2600" dirty="0">
                <a:solidFill>
                  <a:schemeClr val="bg1"/>
                </a:solidFill>
              </a:rPr>
              <a:t> SOA</a:t>
            </a: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D57BC-3A1B-8E85-DAAA-8798322C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9EE5-E122-D3DB-B9C6-A3A78E76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NordEnergiNet A/S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BA6B-DA39-A547-5A12-E60392631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Hvem</a:t>
            </a:r>
            <a:r>
              <a:rPr lang="en-DK" dirty="0">
                <a:solidFill>
                  <a:schemeClr val="bg1"/>
                </a:solidFill>
              </a:rPr>
              <a:t> er </a:t>
            </a:r>
            <a:r>
              <a:rPr lang="da-DK" dirty="0">
                <a:solidFill>
                  <a:schemeClr val="bg1"/>
                </a:solidFill>
              </a:rPr>
              <a:t>NordEnergiNet A/S</a:t>
            </a:r>
            <a:r>
              <a:rPr lang="en-DK" dirty="0">
                <a:solidFill>
                  <a:schemeClr val="bg1"/>
                </a:solidFill>
              </a:rPr>
              <a:t>?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Hændelse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DAF855-4B88-AA98-135F-065CFC1FE501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48194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30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5D69B-8DFE-8606-D82B-2CE3A59E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2EC0-EAE4-3E06-DBBC-1FFA7F5A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SAMSIK(CFCS)</a:t>
            </a:r>
            <a:r>
              <a:rPr lang="en-DK" noProof="0" dirty="0">
                <a:solidFill>
                  <a:schemeClr val="bg1"/>
                </a:solidFill>
              </a:rPr>
              <a:t> - </a:t>
            </a:r>
            <a:r>
              <a:rPr lang="da-DK" noProof="0" dirty="0">
                <a:solidFill>
                  <a:schemeClr val="bg1"/>
                </a:solidFill>
              </a:rPr>
              <a:t>Trusselsvurdering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FB8F-DD67-34BA-D048-6F92962D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Cybertruslen</a:t>
            </a:r>
            <a:r>
              <a:rPr lang="en-US" dirty="0">
                <a:solidFill>
                  <a:schemeClr val="bg1"/>
                </a:solidFill>
              </a:rPr>
              <a:t> mod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energisektoren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C</a:t>
            </a:r>
            <a:r>
              <a:rPr lang="en-US" dirty="0" err="1">
                <a:solidFill>
                  <a:schemeClr val="bg1"/>
                </a:solidFill>
              </a:rPr>
              <a:t>yberkriminalitet</a:t>
            </a:r>
            <a:endParaRPr lang="en-DK" dirty="0">
              <a:solidFill>
                <a:schemeClr val="bg1"/>
              </a:solidFill>
            </a:endParaRPr>
          </a:p>
          <a:p>
            <a:pPr lvl="2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Hacker </a:t>
            </a:r>
            <a:r>
              <a:rPr lang="en-DK" dirty="0" err="1">
                <a:solidFill>
                  <a:schemeClr val="bg1"/>
                </a:solidFill>
              </a:rPr>
              <a:t>grupper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C</a:t>
            </a:r>
            <a:r>
              <a:rPr lang="en-US" dirty="0" err="1">
                <a:solidFill>
                  <a:schemeClr val="bg1"/>
                </a:solidFill>
              </a:rPr>
              <a:t>yberspionage</a:t>
            </a:r>
            <a:endParaRPr lang="en-DK" dirty="0">
              <a:solidFill>
                <a:schemeClr val="bg1"/>
              </a:solidFill>
            </a:endParaRPr>
          </a:p>
          <a:p>
            <a:pPr lvl="2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Stater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D</a:t>
            </a:r>
            <a:r>
              <a:rPr lang="en-US" dirty="0" err="1">
                <a:solidFill>
                  <a:schemeClr val="bg1"/>
                </a:solidFill>
              </a:rPr>
              <a:t>estruktive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cyberangreb</a:t>
            </a:r>
            <a:endParaRPr lang="en-DK" dirty="0">
              <a:solidFill>
                <a:schemeClr val="bg1"/>
              </a:solidFill>
            </a:endParaRPr>
          </a:p>
          <a:p>
            <a:pPr lvl="2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Krig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E8148-AC63-7520-DE47-64EAF706497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80647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8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B0C19-4D9B-2B14-702D-2E542A5A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3734-3A81-DEB3-8171-A1A36AA3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MITRE ATT&amp;CK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3154-E80A-D13F-0076-B4BD6817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Trusselsaktøre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Statslige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aktøre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Cyberkriminelle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grupper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Aktivister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hacktivister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Gruppe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Sandworm team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5512EE-8CBC-722C-7F10-2C0B5DFFF1D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62573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73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962B7-1591-CDCE-FF54-EEA7A52C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1FF5-47D3-7065-A71F-499E4F10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Sandworm </a:t>
            </a:r>
            <a:r>
              <a:rPr lang="en-DK" noProof="0" dirty="0">
                <a:solidFill>
                  <a:schemeClr val="bg1"/>
                </a:solidFill>
              </a:rPr>
              <a:t>Team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EED8-DB66-2823-E449-F682A5BB4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Hvem</a:t>
            </a:r>
            <a:r>
              <a:rPr lang="en-DK" noProof="0" dirty="0">
                <a:solidFill>
                  <a:schemeClr val="bg1"/>
                </a:solidFill>
              </a:rPr>
              <a:t> er de?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Russisk</a:t>
            </a:r>
            <a:r>
              <a:rPr lang="en-DK" dirty="0">
                <a:solidFill>
                  <a:schemeClr val="bg1"/>
                </a:solidFill>
              </a:rPr>
              <a:t> stats </a:t>
            </a:r>
            <a:r>
              <a:rPr lang="en-DK" dirty="0" err="1">
                <a:solidFill>
                  <a:schemeClr val="bg1"/>
                </a:solidFill>
              </a:rPr>
              <a:t>sponsoreret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APT44, </a:t>
            </a:r>
            <a:r>
              <a:rPr lang="en-US" noProof="0" dirty="0" err="1">
                <a:solidFill>
                  <a:schemeClr val="bg1"/>
                </a:solidFill>
              </a:rPr>
              <a:t>Telebots</a:t>
            </a:r>
            <a:r>
              <a:rPr lang="en-US" noProof="0" dirty="0">
                <a:solidFill>
                  <a:schemeClr val="bg1"/>
                </a:solidFill>
              </a:rPr>
              <a:t>, Voodoo Bear </a:t>
            </a:r>
            <a:r>
              <a:rPr lang="en-US" noProof="0" dirty="0" err="1">
                <a:solidFill>
                  <a:schemeClr val="bg1"/>
                </a:solidFill>
              </a:rPr>
              <a:t>og</a:t>
            </a:r>
            <a:r>
              <a:rPr lang="en-US" noProof="0" dirty="0">
                <a:solidFill>
                  <a:schemeClr val="bg1"/>
                </a:solidFill>
              </a:rPr>
              <a:t> Seashell Blizzard.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Hvilke metoder anvender de?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T1566</a:t>
            </a:r>
            <a:r>
              <a:rPr lang="en-DK" noProof="0" dirty="0">
                <a:solidFill>
                  <a:schemeClr val="bg1"/>
                </a:solidFill>
              </a:rPr>
              <a:t>: Phishing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T1583</a:t>
            </a:r>
            <a:r>
              <a:rPr lang="en-DK" noProof="0" dirty="0">
                <a:solidFill>
                  <a:schemeClr val="bg1"/>
                </a:solidFill>
              </a:rPr>
              <a:t>: </a:t>
            </a:r>
            <a:r>
              <a:rPr lang="en-US" noProof="0" dirty="0">
                <a:solidFill>
                  <a:schemeClr val="bg1"/>
                </a:solidFill>
              </a:rPr>
              <a:t>Acquire Infrastructure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Eksempler på angreb</a:t>
            </a:r>
            <a:r>
              <a:rPr lang="en-DK" noProof="0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C0025</a:t>
            </a:r>
            <a:r>
              <a:rPr lang="en-DK" noProof="0" dirty="0">
                <a:solidFill>
                  <a:schemeClr val="bg1"/>
                </a:solidFill>
              </a:rPr>
              <a:t>: </a:t>
            </a:r>
            <a:r>
              <a:rPr lang="en-US" noProof="0" dirty="0">
                <a:solidFill>
                  <a:schemeClr val="bg1"/>
                </a:solidFill>
              </a:rPr>
              <a:t>2016 Ukraine Electric Power Attack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C0034</a:t>
            </a:r>
            <a:r>
              <a:rPr lang="en-DK" noProof="0" dirty="0">
                <a:solidFill>
                  <a:schemeClr val="bg1"/>
                </a:solidFill>
              </a:rPr>
              <a:t>: </a:t>
            </a:r>
            <a:r>
              <a:rPr lang="en-US" noProof="0" dirty="0">
                <a:solidFill>
                  <a:schemeClr val="bg1"/>
                </a:solidFill>
              </a:rPr>
              <a:t>2022 Ukraine Electric Power Attack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CD02BE-B168-106F-6549-C3D85B8BBD4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62573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4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14E1F-FDA2-8366-684D-61A5ECB3E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5493-B94C-148F-DD03-5081A1D5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R</a:t>
            </a:r>
            <a:r>
              <a:rPr lang="en-DK" noProof="0" dirty="0" err="1">
                <a:solidFill>
                  <a:schemeClr val="bg1"/>
                </a:solidFill>
              </a:rPr>
              <a:t>isikovurdering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SOA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968E-1D38-996A-1D45-2782BF7B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Risiko</a:t>
            </a:r>
            <a:r>
              <a:rPr lang="en-DK" dirty="0">
                <a:solidFill>
                  <a:schemeClr val="bg1"/>
                </a:solidFill>
              </a:rPr>
              <a:t> for phishing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Foranstaltning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6.3: </a:t>
            </a:r>
            <a:r>
              <a:rPr lang="da-DK" dirty="0">
                <a:solidFill>
                  <a:schemeClr val="bg1"/>
                </a:solidFill>
              </a:rPr>
              <a:t>Awareness, uddannelse og træning vedrørende informationssikkerhed</a:t>
            </a:r>
            <a:endParaRPr lang="en-DK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EDE296-809C-0D7D-03F0-B3EEC1A5C32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43790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B1B4743-170C-5D02-F76B-F06395303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290"/>
          <a:stretch>
            <a:fillRect/>
          </a:stretch>
        </p:blipFill>
        <p:spPr>
          <a:xfrm>
            <a:off x="223167" y="4963915"/>
            <a:ext cx="11723299" cy="9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8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8085</TotalTime>
  <Words>581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Hvordan identificerer og håndterer man det aktuelle trusselsbillede, herunder trusselsaktører, for at informere sikkerhedsbeslutninger i en virksomhed som NordEnergiNet A/S?</vt:lpstr>
      <vt:lpstr>Agenda</vt:lpstr>
      <vt:lpstr>NordEnergiNet A/S</vt:lpstr>
      <vt:lpstr>SAMSIK(CFCS) - Trusselsvurdering</vt:lpstr>
      <vt:lpstr>MITRE ATT&amp;CK</vt:lpstr>
      <vt:lpstr>Sandworm Team</vt:lpstr>
      <vt:lpstr>Risikovurdering og SOA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446</cp:revision>
  <dcterms:created xsi:type="dcterms:W3CDTF">2025-11-06T19:46:54Z</dcterms:created>
  <dcterms:modified xsi:type="dcterms:W3CDTF">2025-12-17T08:22:54Z</dcterms:modified>
</cp:coreProperties>
</file>