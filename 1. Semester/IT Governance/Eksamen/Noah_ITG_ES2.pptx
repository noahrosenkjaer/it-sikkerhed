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5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1B3B-7161-B54E-3977-0C2430F3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C19FD-E5A3-4655-1CDB-D34268C60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08A2C-BA53-F3B4-8FD8-88F64D9BF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Risikostyring i cyber- og informationssikkerhed</a:t>
            </a:r>
            <a:r>
              <a:rPr lang="da-DK" dirty="0"/>
              <a:t> er en strategisk proces, der sikrer målrettet beskyttelse af organisationens kritiske områder. Processen følger en iterativ cyklus baseret på internationale standarder som </a:t>
            </a:r>
            <a:r>
              <a:rPr lang="da-DK" b="1" dirty="0"/>
              <a:t>ISO/IEC 27001 og ISO/IEC 27005</a:t>
            </a:r>
            <a:r>
              <a:rPr lang="da-DK" dirty="0"/>
              <a:t> og omfatter identifikation, analyse, evaluering og håndtering af risici, der kan true organisationens målsætninger.</a:t>
            </a:r>
            <a:br>
              <a:rPr lang="en-DK" dirty="0"/>
            </a:br>
            <a:br>
              <a:rPr lang="en-DK" dirty="0"/>
            </a:br>
            <a:r>
              <a:rPr lang="en-DK" dirty="0" err="1"/>
              <a:t>Hvorfor</a:t>
            </a:r>
            <a:r>
              <a:rPr lang="en-DK" dirty="0"/>
              <a:t> er den </a:t>
            </a:r>
            <a:r>
              <a:rPr lang="da-DK" dirty="0"/>
              <a:t>iterative</a:t>
            </a:r>
            <a:r>
              <a:rPr lang="en-DK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dirty="0" err="1"/>
              <a:t>Fordi</a:t>
            </a:r>
            <a:r>
              <a:rPr lang="en-DK" dirty="0"/>
              <a:t> </a:t>
            </a:r>
            <a:r>
              <a:rPr lang="en-DK" dirty="0" err="1"/>
              <a:t>trusselsbilledet</a:t>
            </a:r>
            <a:r>
              <a:rPr lang="en-DK" dirty="0"/>
              <a:t> er </a:t>
            </a:r>
            <a:r>
              <a:rPr lang="en-DK" dirty="0" err="1"/>
              <a:t>dynamisk</a:t>
            </a:r>
            <a:r>
              <a:rPr lang="en-DK" dirty="0"/>
              <a:t>, </a:t>
            </a:r>
            <a:r>
              <a:rPr lang="en-DK" dirty="0" err="1"/>
              <a:t>og</a:t>
            </a:r>
            <a:r>
              <a:rPr lang="en-DK" dirty="0"/>
              <a:t> hele </a:t>
            </a:r>
            <a:r>
              <a:rPr lang="en-DK" dirty="0" err="1"/>
              <a:t>tiden</a:t>
            </a:r>
            <a:r>
              <a:rPr lang="en-DK" dirty="0"/>
              <a:t> </a:t>
            </a:r>
            <a:r>
              <a:rPr lang="en-DK" dirty="0" err="1"/>
              <a:t>ændre</a:t>
            </a:r>
            <a:r>
              <a:rPr lang="en-DK" dirty="0"/>
              <a:t> sig.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b="0" dirty="0" err="1"/>
              <a:t>Virksomheden</a:t>
            </a:r>
            <a:r>
              <a:rPr lang="en-DK" b="0" dirty="0"/>
              <a:t>  </a:t>
            </a:r>
            <a:r>
              <a:rPr lang="en-DK" b="0" dirty="0" err="1"/>
              <a:t>selv</a:t>
            </a:r>
            <a:r>
              <a:rPr lang="en-DK" b="0" dirty="0"/>
              <a:t> er </a:t>
            </a:r>
            <a:r>
              <a:rPr lang="en-DK" b="0" dirty="0" err="1"/>
              <a:t>også</a:t>
            </a:r>
            <a:r>
              <a:rPr lang="en-DK" b="0" dirty="0"/>
              <a:t> </a:t>
            </a:r>
            <a:r>
              <a:rPr lang="en-DK" b="0" dirty="0" err="1"/>
              <a:t>dynamisk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ændre</a:t>
            </a:r>
            <a:r>
              <a:rPr lang="en-DK" b="0" dirty="0"/>
              <a:t> sig hele </a:t>
            </a:r>
            <a:r>
              <a:rPr lang="en-DK" b="0" dirty="0" err="1"/>
              <a:t>tiden</a:t>
            </a:r>
            <a:r>
              <a:rPr lang="en-DK" b="0" dirty="0"/>
              <a:t> (</a:t>
            </a:r>
            <a:r>
              <a:rPr lang="en-DK" b="0" dirty="0" err="1"/>
              <a:t>Ændre</a:t>
            </a:r>
            <a:r>
              <a:rPr lang="en-DK" b="0" dirty="0"/>
              <a:t>, </a:t>
            </a:r>
            <a:r>
              <a:rPr lang="en-DK" b="0" dirty="0" err="1"/>
              <a:t>tilføjer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fjerne</a:t>
            </a:r>
            <a:r>
              <a:rPr lang="en-DK" b="0" dirty="0"/>
              <a:t> ting)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C686-29DE-BE48-1CB8-C847A249F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5891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3782-F0B1-C2A4-5A81-3E2B59FC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931B6-AF1B-805C-2749-8EDE8FD43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8AFB5-C80D-0F9C-18C0-F824D9B7E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NordEnergiNet A/S kun står for en overvågningen af elnettet i en del af Danmark, så samarbejder de med Energinet A/S som varetager den overordnede el-infrastruktur i Danmark. En del af virksomhedens systemer er integreret med Energinets overvågnings- og planlægningssystemer, som facilitere dataudveksling i forhold til driftsdata, kapacitetsmålinger, alarmer og hændelsesinformation. Dette hjælper begge parter da, downtime på det overordnede el-net kan have effekter på det som NordEnergiNet A/S står for, og omvendt.</a:t>
            </a:r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interessenter</a:t>
            </a:r>
            <a:r>
              <a:rPr lang="en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DK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Afdelinger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Ledelse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bestyrelse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afdeling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kontrolcenter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afdeling</a:t>
            </a:r>
            <a:r>
              <a:rPr lang="en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DK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1" dirty="0" err="1">
                <a:solidFill>
                  <a:schemeClr val="bg1"/>
                </a:solidFill>
              </a:rPr>
              <a:t>Eksterne</a:t>
            </a:r>
            <a:r>
              <a:rPr lang="en-DK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interessenter</a:t>
            </a:r>
            <a:r>
              <a:rPr lang="en-DK" sz="1200" b="1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Energinet A/S (</a:t>
            </a:r>
            <a:r>
              <a:rPr lang="en-US" sz="1200" b="0" i="0" u="none" strike="noStrike" kern="1200" noProof="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kritisk</a:t>
            </a:r>
            <a:r>
              <a:rPr lang="en-US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partner)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noProof="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Lovgivningsmyndigheder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noProof="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Datatilsynet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: GDPR,</a:t>
            </a:r>
            <a:r>
              <a:rPr lang="da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Center for Cybersikkerhed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a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NIS2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u="none" strike="noStrike" kern="1200" noProof="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Leverandører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Kunder (</a:t>
            </a:r>
            <a:r>
              <a:rPr lang="en-US" sz="1200" b="0" i="0" u="none" strike="noStrike" kern="1200" noProof="0" dirty="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slutbrugere</a:t>
            </a:r>
            <a:r>
              <a:rPr lang="en-US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DK" sz="1200" b="0" i="0" u="none" strike="noStrike" kern="1200" noProof="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22C45-A12C-7A0A-A067-F1F4CB394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04396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1985-EE27-082C-16D4-5D59853D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6E50C-0C9D-0E42-E96E-D6B429386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FDE5D-BCDD-2F1E-C369-90B035DF3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0" dirty="0" err="1"/>
              <a:t>Primøre</a:t>
            </a:r>
            <a:r>
              <a:rPr lang="en-DK" b="0" dirty="0"/>
              <a:t> </a:t>
            </a:r>
            <a:r>
              <a:rPr lang="en-DK" b="0" dirty="0" err="1"/>
              <a:t>aktiver</a:t>
            </a:r>
            <a:r>
              <a:rPr lang="en-DK" b="0" dirty="0"/>
              <a:t>:</a:t>
            </a: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 til produktionssystemer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Forretningshemmeligheder</a:t>
            </a:r>
            <a:endParaRPr lang="da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 til HR system PeopleCore 365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Medarbejderdata</a:t>
            </a:r>
            <a:endParaRPr lang="da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Tilgåelse af infrastruktur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IT-sikkerhedskonfigurationer, adgangsregler</a:t>
            </a: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angreb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Forretningshemmeligheder</a:t>
            </a:r>
          </a:p>
          <a:p>
            <a:endParaRPr lang="en-DK" b="0" dirty="0"/>
          </a:p>
          <a:p>
            <a:endParaRPr lang="en-DK" b="0" dirty="0"/>
          </a:p>
          <a:p>
            <a:pPr rtl="0" fontAlgn="base"/>
            <a:r>
              <a:rPr lang="en-DK" b="0" dirty="0" err="1"/>
              <a:t>Understøttende</a:t>
            </a:r>
            <a:r>
              <a:rPr lang="en-DK" b="0" dirty="0"/>
              <a:t> </a:t>
            </a:r>
            <a:r>
              <a:rPr lang="en-DK" b="0" dirty="0" err="1"/>
              <a:t>aktiver</a:t>
            </a:r>
            <a:r>
              <a:rPr lang="en-DK" b="0" dirty="0"/>
              <a:t>:</a:t>
            </a:r>
            <a:br>
              <a:rPr lang="en-DK" b="0" dirty="0"/>
            </a:b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produktionssystemer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PeopleCore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365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HR system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PeopleCore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365</a:t>
            </a:r>
          </a:p>
          <a:p>
            <a:pPr lvl="1"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PeopleCore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365</a:t>
            </a:r>
          </a:p>
          <a:p>
            <a:pPr rtl="0" fontAlgn="base"/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Tilgåelse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infrastruktur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regler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Adgangslister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brugerkonti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angreb</a:t>
            </a:r>
            <a:endParaRPr lang="en-U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Dokumentations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K" b="0" dirty="0"/>
          </a:p>
          <a:p>
            <a:endParaRPr lang="en-DK" b="0" dirty="0"/>
          </a:p>
          <a:p>
            <a:r>
              <a:rPr lang="en-DK" b="0" dirty="0" err="1"/>
              <a:t>Risikoejere</a:t>
            </a:r>
            <a:r>
              <a:rPr lang="en-DK" b="0" dirty="0"/>
              <a:t>:</a:t>
            </a: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 til produktionssystemer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 og administration</a:t>
            </a:r>
            <a:endParaRPr lang="da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Adgang til HR system PeopleCore 365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 og administration</a:t>
            </a:r>
            <a:endParaRPr lang="da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Tilgåelse af infrastruktur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IT-afdeling</a:t>
            </a:r>
            <a:endParaRPr lang="da-DK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angreb</a:t>
            </a:r>
          </a:p>
          <a:p>
            <a:pPr lvl="1" rtl="0" fontAlgn="base"/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Hele firmaet</a:t>
            </a:r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A1F9-2F68-EFAD-5A20-12D3467D9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62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BA7D-93B2-98A5-93A3-DD7148B4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A346C-B4B3-0662-A96D-8593C3E4B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2A3AD-8752-9A20-6DA7-E0A16600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0" dirty="0" err="1"/>
              <a:t>Accepteret</a:t>
            </a:r>
            <a:r>
              <a:rPr lang="en-DK" b="0" dirty="0"/>
              <a:t> </a:t>
            </a:r>
            <a:r>
              <a:rPr lang="en-DK" b="0" dirty="0" err="1"/>
              <a:t>risici</a:t>
            </a:r>
            <a:r>
              <a:rPr lang="en-DK" b="0" dirty="0"/>
              <a:t> </a:t>
            </a:r>
            <a:r>
              <a:rPr lang="en-DK" b="0" dirty="0" err="1"/>
              <a:t>bliver</a:t>
            </a:r>
            <a:r>
              <a:rPr lang="en-DK" b="0" dirty="0"/>
              <a:t> </a:t>
            </a:r>
            <a:r>
              <a:rPr lang="en-DK" b="0" dirty="0" err="1"/>
              <a:t>sendt</a:t>
            </a:r>
            <a:r>
              <a:rPr lang="en-DK" b="0" dirty="0"/>
              <a:t> </a:t>
            </a:r>
            <a:r>
              <a:rPr lang="en-DK" b="0" dirty="0" err="1"/>
              <a:t>til</a:t>
            </a:r>
            <a:r>
              <a:rPr lang="en-DK" b="0" dirty="0"/>
              <a:t> </a:t>
            </a:r>
            <a:r>
              <a:rPr lang="en-DK" b="0" dirty="0" err="1"/>
              <a:t>Overvågning</a:t>
            </a:r>
            <a:r>
              <a:rPr lang="en-DK" b="0" dirty="0"/>
              <a:t> </a:t>
            </a:r>
            <a:r>
              <a:rPr lang="en-DK" b="0" dirty="0" err="1"/>
              <a:t>og</a:t>
            </a:r>
            <a:r>
              <a:rPr lang="en-DK" b="0" dirty="0"/>
              <a:t> </a:t>
            </a:r>
            <a:r>
              <a:rPr lang="en-DK" b="0" dirty="0" err="1"/>
              <a:t>gennemgang</a:t>
            </a:r>
            <a:r>
              <a:rPr lang="en-DK" b="0" dirty="0"/>
              <a:t> for at </a:t>
            </a:r>
            <a:r>
              <a:rPr lang="en-DK" b="0" dirty="0" err="1"/>
              <a:t>sikre</a:t>
            </a:r>
            <a:r>
              <a:rPr lang="en-DK" b="0" dirty="0"/>
              <a:t> at de </a:t>
            </a:r>
            <a:r>
              <a:rPr lang="en-DK" b="0" dirty="0" err="1"/>
              <a:t>forbliver</a:t>
            </a:r>
            <a:r>
              <a:rPr lang="en-DK" b="0" dirty="0"/>
              <a:t> acceptable.</a:t>
            </a:r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5E3C-CDB5-83A7-B3E0-462E66A15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8536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969E-B5EE-01A9-DF59-6739F612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17FF5-7533-05ED-E862-40F2ABEED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824A3-22BF-937D-E727-C2F38A201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implementeres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foranstaltninger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på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lag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sørger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afdække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phishing-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angreb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tegnes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forsikring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minimere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økonomiske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omkostninger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>
              <a:effectLst/>
            </a:endParaRPr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CFF60-9140-86F3-62C8-5B09EA00F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3876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17/12/2025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2468" y="949325"/>
            <a:ext cx="10715102" cy="2387600"/>
          </a:xfrm>
        </p:spPr>
        <p:txBody>
          <a:bodyPr>
            <a:normAutofit/>
          </a:bodyPr>
          <a:lstStyle/>
          <a:p>
            <a:pPr algn="l"/>
            <a:r>
              <a:rPr lang="da-DK" sz="4400" noProof="0" dirty="0">
                <a:solidFill>
                  <a:schemeClr val="bg1"/>
                </a:solidFill>
              </a:rPr>
              <a:t>Hvordan anvendes </a:t>
            </a:r>
            <a:r>
              <a:rPr lang="en-DK" sz="4400" noProof="0" dirty="0" err="1">
                <a:solidFill>
                  <a:schemeClr val="bg1"/>
                </a:solidFill>
              </a:rPr>
              <a:t>en</a:t>
            </a:r>
            <a:r>
              <a:rPr lang="en-DK" sz="4400" noProof="0" dirty="0">
                <a:solidFill>
                  <a:schemeClr val="bg1"/>
                </a:solidFill>
              </a:rPr>
              <a:t> </a:t>
            </a:r>
            <a:r>
              <a:rPr lang="da-DK" sz="4400" noProof="0" dirty="0">
                <a:solidFill>
                  <a:schemeClr val="bg1"/>
                </a:solidFill>
              </a:rPr>
              <a:t>risikostyringsproces til at opnå et acceptabelt</a:t>
            </a:r>
            <a:r>
              <a:rPr lang="en-DK" sz="4400" noProof="0" dirty="0">
                <a:solidFill>
                  <a:schemeClr val="bg1"/>
                </a:solidFill>
              </a:rPr>
              <a:t> </a:t>
            </a:r>
            <a:r>
              <a:rPr lang="da-DK" sz="4400" noProof="0" dirty="0">
                <a:solidFill>
                  <a:schemeClr val="bg1"/>
                </a:solidFill>
              </a:rPr>
              <a:t>risikoniveau i</a:t>
            </a:r>
            <a:r>
              <a:rPr lang="en-DK" sz="4400" noProof="0" dirty="0">
                <a:solidFill>
                  <a:schemeClr val="bg1"/>
                </a:solidFill>
              </a:rPr>
              <a:t> </a:t>
            </a:r>
            <a:r>
              <a:rPr lang="da-DK" sz="4400" noProof="0" dirty="0">
                <a:solidFill>
                  <a:schemeClr val="bg1"/>
                </a:solidFill>
              </a:rPr>
              <a:t>organisationen?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6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noProof="0" dirty="0">
                <a:solidFill>
                  <a:schemeClr val="bg1"/>
                </a:solidFill>
              </a:rPr>
              <a:t>Risikostyringsprocessen</a:t>
            </a:r>
            <a:endParaRPr lang="en-DK" sz="2600" noProof="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600" dirty="0">
                <a:solidFill>
                  <a:schemeClr val="bg1"/>
                </a:solidFill>
              </a:rPr>
              <a:t>Etablering af kontekst,</a:t>
            </a: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I</a:t>
            </a:r>
            <a:r>
              <a:rPr lang="da-DK" sz="2600" dirty="0">
                <a:solidFill>
                  <a:schemeClr val="bg1"/>
                </a:solidFill>
              </a:rPr>
              <a:t>dentifikation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A</a:t>
            </a:r>
            <a:r>
              <a:rPr lang="da-DK" sz="2600" dirty="0">
                <a:solidFill>
                  <a:schemeClr val="bg1"/>
                </a:solidFill>
              </a:rPr>
              <a:t>nalyse</a:t>
            </a:r>
            <a:endParaRPr lang="en-DK" sz="2600" dirty="0">
              <a:solidFill>
                <a:schemeClr val="bg1"/>
              </a:solidFill>
            </a:endParaRPr>
          </a:p>
          <a:p>
            <a:r>
              <a:rPr lang="da-DK" sz="2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600" dirty="0">
                <a:solidFill>
                  <a:schemeClr val="bg1"/>
                </a:solidFill>
              </a:rPr>
              <a:t>E</a:t>
            </a:r>
            <a:r>
              <a:rPr lang="da-DK" sz="2600" dirty="0">
                <a:solidFill>
                  <a:schemeClr val="bg1"/>
                </a:solidFill>
              </a:rPr>
              <a:t>valuering </a:t>
            </a:r>
            <a:endParaRPr lang="en-DK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31AEA-900B-2999-494E-B7C51A9F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FC09-1FDB-D957-90F7-1DAD1750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>
                <a:solidFill>
                  <a:schemeClr val="bg1"/>
                </a:solidFill>
              </a:rPr>
              <a:t>R</a:t>
            </a:r>
            <a:r>
              <a:rPr lang="en-US" noProof="0" dirty="0" err="1">
                <a:solidFill>
                  <a:schemeClr val="bg1"/>
                </a:solidFill>
              </a:rPr>
              <a:t>isikostyringsproces</a:t>
            </a:r>
            <a:r>
              <a:rPr lang="en-DK" noProof="0" dirty="0" err="1">
                <a:solidFill>
                  <a:schemeClr val="bg1"/>
                </a:solidFill>
              </a:rPr>
              <a:t>sen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A26A2-FADC-AC5D-98F4-82017F24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Beskyttelse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af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aktiver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I</a:t>
            </a:r>
            <a:r>
              <a:rPr lang="en-US" noProof="0" dirty="0" err="1">
                <a:solidFill>
                  <a:schemeClr val="bg1"/>
                </a:solidFill>
              </a:rPr>
              <a:t>terativ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cyklus</a:t>
            </a:r>
            <a:endParaRPr lang="en-DK" noProof="0" dirty="0">
              <a:solidFill>
                <a:schemeClr val="bg1"/>
              </a:solidFill>
            </a:endParaRPr>
          </a:p>
          <a:p>
            <a:endParaRPr lang="en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2E697C-0895-FF2C-C08C-9703093FD06D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70391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DF67F48E-50AF-FDC9-A708-A0A651B0C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086" y="0"/>
            <a:ext cx="4864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CE974-91EA-D094-43E1-01996F47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0834-EE61-0801-DB06-A22BD800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noProof="0" dirty="0">
                <a:solidFill>
                  <a:schemeClr val="bg1"/>
                </a:solidFill>
              </a:rPr>
              <a:t>Etablering af kontekst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5BCB-AA5C-5166-E8E9-31C5BAD60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Baggrund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Hændelse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Interne </a:t>
            </a:r>
            <a:r>
              <a:rPr lang="en-US" noProof="0" dirty="0" err="1">
                <a:solidFill>
                  <a:schemeClr val="bg1"/>
                </a:solidFill>
              </a:rPr>
              <a:t>interessenter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Eksterne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interessenter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Sandsynlighed</a:t>
            </a:r>
            <a:r>
              <a:rPr lang="en-DK" dirty="0">
                <a:solidFill>
                  <a:schemeClr val="bg1"/>
                </a:solidFill>
              </a:rPr>
              <a:t> &amp; </a:t>
            </a:r>
            <a:r>
              <a:rPr lang="da-DK" noProof="0" dirty="0">
                <a:solidFill>
                  <a:schemeClr val="bg1"/>
                </a:solidFill>
              </a:rPr>
              <a:t>konsekvens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Kvalitativ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6EE262-A510-D830-507F-8A458BC18394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5047211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white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3DEEC1C-876A-0999-60DA-75C1AA95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75" y="3814386"/>
            <a:ext cx="6722225" cy="30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7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7F014-4096-E866-692A-1CA73B15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E483-A884-1544-A64B-64CFB58B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noProof="0" dirty="0" err="1">
                <a:solidFill>
                  <a:schemeClr val="bg1"/>
                </a:solidFill>
              </a:rPr>
              <a:t>Risikoi</a:t>
            </a:r>
            <a:r>
              <a:rPr lang="da-DK" noProof="0" dirty="0">
                <a:solidFill>
                  <a:schemeClr val="bg1"/>
                </a:solidFill>
              </a:rPr>
              <a:t>dentifikation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16653-8E01-8701-8F05-855C3E58A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Identificer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rsici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Adgang til produktionssystemer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Adgang til HR system PersonCore 365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Tilgåelse af infrastruktur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Phishing angreb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P</a:t>
            </a:r>
            <a:r>
              <a:rPr lang="da-DK" noProof="0" dirty="0">
                <a:solidFill>
                  <a:schemeClr val="bg1"/>
                </a:solidFill>
              </a:rPr>
              <a:t>rimære aktiver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U</a:t>
            </a:r>
            <a:r>
              <a:rPr lang="da-DK" noProof="0" dirty="0">
                <a:solidFill>
                  <a:schemeClr val="bg1"/>
                </a:solidFill>
              </a:rPr>
              <a:t>nderstøttende aktiver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Risikoejere</a:t>
            </a: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E780FB-061B-5278-8171-22592E85901D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43206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2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CBC79-00A7-1B9D-7F90-0AD92F09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1200-9AB8-5E9F-CBE6-707DDB5F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4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DK" noProof="0" dirty="0">
                <a:solidFill>
                  <a:schemeClr val="bg1"/>
                </a:solidFill>
              </a:rPr>
              <a:t>A</a:t>
            </a:r>
            <a:r>
              <a:rPr lang="da-DK" noProof="0" dirty="0">
                <a:solidFill>
                  <a:schemeClr val="bg1"/>
                </a:solidFill>
              </a:rPr>
              <a:t>nalyse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0A01-EC10-7BB8-F820-2D5A49B80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46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Sandsynlighed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Næsten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sikker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dirty="0">
                <a:solidFill>
                  <a:schemeClr val="bg1"/>
                </a:solidFill>
              </a:rPr>
              <a:t>Konsekvens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Katastrofal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Risikoniveau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Enorm</a:t>
            </a: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Risikomatrix</a:t>
            </a:r>
            <a:endParaRPr lang="en-DK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33E251-6405-8119-FCDB-C6C4B678452D}"/>
              </a:ext>
            </a:extLst>
          </p:cNvPr>
          <p:cNvCxnSpPr>
            <a:cxnSpLocks/>
          </p:cNvCxnSpPr>
          <p:nvPr/>
        </p:nvCxnSpPr>
        <p:spPr>
          <a:xfrm>
            <a:off x="347747" y="1341596"/>
            <a:ext cx="1971504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table with different colored squares&#10;&#10;AI-generated content may be incorrect.">
            <a:extLst>
              <a:ext uri="{FF2B5EF4-FFF2-40B4-BE49-F238E27FC236}">
                <a16:creationId xmlns:a16="http://schemas.microsoft.com/office/drawing/2014/main" id="{3BA55B96-161D-1774-F1B2-5C09687F5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53" y="1690688"/>
            <a:ext cx="6819847" cy="5114886"/>
          </a:xfrm>
          <a:prstGeom prst="rect">
            <a:avLst/>
          </a:prstGeom>
        </p:spPr>
      </p:pic>
      <p:pic>
        <p:nvPicPr>
          <p:cNvPr id="9" name="Picture 8" descr="A table with different colored squares&#10;&#10;AI-generated content may be incorrect.">
            <a:extLst>
              <a:ext uri="{FF2B5EF4-FFF2-40B4-BE49-F238E27FC236}">
                <a16:creationId xmlns:a16="http://schemas.microsoft.com/office/drawing/2014/main" id="{838C2645-9EAD-149F-A560-0B359E438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787" y="11190"/>
            <a:ext cx="8057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1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8FA59-FF43-0F9E-D9F8-6BB67D3B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9CA4-9496-7EAE-6768-E6A59957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 err="1">
                <a:solidFill>
                  <a:schemeClr val="bg1"/>
                </a:solidFill>
              </a:rPr>
              <a:t>Risikoe</a:t>
            </a:r>
            <a:r>
              <a:rPr lang="da-DK" dirty="0">
                <a:solidFill>
                  <a:schemeClr val="bg1"/>
                </a:solidFill>
              </a:rPr>
              <a:t>valuering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1705-C785-7854-D70E-79AB347C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267" cy="4351338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H</a:t>
            </a:r>
            <a:r>
              <a:rPr lang="da-DK" noProof="0" dirty="0">
                <a:solidFill>
                  <a:schemeClr val="bg1"/>
                </a:solidFill>
              </a:rPr>
              <a:t>åndtering</a:t>
            </a:r>
            <a:endParaRPr lang="en-DK" noProof="0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Ændring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Fastholdelse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Undgåelse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Deling af risici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Phishing </a:t>
            </a:r>
            <a:r>
              <a:rPr lang="en-DK" dirty="0" err="1">
                <a:solidFill>
                  <a:schemeClr val="bg1"/>
                </a:solidFill>
              </a:rPr>
              <a:t>angreb</a:t>
            </a:r>
            <a:endParaRPr lang="en-DK" dirty="0">
              <a:solidFill>
                <a:schemeClr val="bg1"/>
              </a:solidFill>
            </a:endParaRP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Ændring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AD1A17-417A-DA02-8200-97B1130EF361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866804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23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7969</TotalTime>
  <Words>496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Hvordan anvendes en risikostyringsproces til at opnå et acceptabelt risikoniveau i organisationen?</vt:lpstr>
      <vt:lpstr>Agenda</vt:lpstr>
      <vt:lpstr>Risikostyringsprocessen</vt:lpstr>
      <vt:lpstr>Etablering af kontekst</vt:lpstr>
      <vt:lpstr>Risikoidentifikation</vt:lpstr>
      <vt:lpstr>Analyse</vt:lpstr>
      <vt:lpstr>Risikoevaluering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423</cp:revision>
  <dcterms:created xsi:type="dcterms:W3CDTF">2025-11-06T19:46:54Z</dcterms:created>
  <dcterms:modified xsi:type="dcterms:W3CDTF">2025-12-17T08:16:51Z</dcterms:modified>
</cp:coreProperties>
</file>