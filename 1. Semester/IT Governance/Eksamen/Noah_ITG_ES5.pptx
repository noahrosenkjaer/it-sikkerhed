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57" r:id="rId3"/>
    <p:sldId id="270" r:id="rId4"/>
    <p:sldId id="266" r:id="rId5"/>
    <p:sldId id="267" r:id="rId6"/>
    <p:sldId id="269" r:id="rId7"/>
    <p:sldId id="268" r:id="rId8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80226" autoAdjust="0"/>
  </p:normalViewPr>
  <p:slideViewPr>
    <p:cSldViewPr snapToGrid="0">
      <p:cViewPr varScale="1">
        <p:scale>
          <a:sx n="77" d="100"/>
          <a:sy n="77" d="100"/>
        </p:scale>
        <p:origin x="5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0D549-607A-4532-9BBA-0ADD9F3A870B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7EFCB-B5C0-4096-864F-EF557946593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5968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54AE2-50C4-4E98-A080-E77C3FEA5DCF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90053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658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3945-BA06-857D-DB24-CA439808B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5AF4A5-594A-8830-2C01-25B5F0627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C6879-94E9-CD92-7C03-D7F45880B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b="0" dirty="0" err="1"/>
              <a:t>På</a:t>
            </a:r>
            <a:r>
              <a:rPr lang="en-DK" b="0" dirty="0"/>
              <a:t> </a:t>
            </a:r>
            <a:r>
              <a:rPr lang="en-DK" b="0" dirty="0" err="1"/>
              <a:t>baggrund</a:t>
            </a:r>
            <a:r>
              <a:rPr lang="en-DK" b="0" dirty="0"/>
              <a:t> </a:t>
            </a:r>
            <a:r>
              <a:rPr lang="en-DK" b="0" dirty="0" err="1"/>
              <a:t>af</a:t>
            </a:r>
            <a:r>
              <a:rPr lang="en-DK" b="0" dirty="0"/>
              <a:t> </a:t>
            </a:r>
            <a:r>
              <a:rPr lang="en-DK" b="0" dirty="0" err="1"/>
              <a:t>risikoen</a:t>
            </a:r>
            <a:r>
              <a:rPr lang="en-DK" b="0" dirty="0"/>
              <a:t> for phishing </a:t>
            </a:r>
            <a:r>
              <a:rPr lang="en-DK" b="0" dirty="0" err="1"/>
              <a:t>i</a:t>
            </a:r>
            <a:r>
              <a:rPr lang="en-DK" b="0" dirty="0"/>
              <a:t> </a:t>
            </a:r>
            <a:r>
              <a:rPr lang="en-DK" b="0" dirty="0" err="1"/>
              <a:t>risikovurderingen</a:t>
            </a:r>
            <a:r>
              <a:rPr lang="en-DK" b="0" dirty="0"/>
              <a:t> </a:t>
            </a:r>
            <a:r>
              <a:rPr lang="en-DK" b="0" dirty="0" err="1"/>
              <a:t>vælges</a:t>
            </a:r>
            <a:r>
              <a:rPr lang="en-DK" b="0" dirty="0"/>
              <a:t> der at </a:t>
            </a:r>
            <a:r>
              <a:rPr lang="en-DK" b="0" dirty="0" err="1"/>
              <a:t>gå</a:t>
            </a:r>
            <a:r>
              <a:rPr lang="en-DK" b="0" dirty="0"/>
              <a:t> </a:t>
            </a:r>
            <a:r>
              <a:rPr lang="en-DK" b="0" dirty="0" err="1"/>
              <a:t>videre</a:t>
            </a:r>
            <a:r>
              <a:rPr lang="en-DK" b="0" dirty="0"/>
              <a:t> med </a:t>
            </a:r>
            <a:r>
              <a:rPr lang="en-DK" b="0" dirty="0" err="1"/>
              <a:t>foranstaltning</a:t>
            </a:r>
            <a:r>
              <a:rPr lang="en-DK" b="0" dirty="0"/>
              <a:t> 6.3 for at </a:t>
            </a:r>
            <a:r>
              <a:rPr lang="en-DK" b="0" dirty="0" err="1"/>
              <a:t>mindske</a:t>
            </a:r>
            <a:r>
              <a:rPr lang="en-DK" b="0" dirty="0"/>
              <a:t> </a:t>
            </a:r>
            <a:r>
              <a:rPr lang="en-DK" b="0" dirty="0" err="1"/>
              <a:t>risikoen</a:t>
            </a:r>
            <a:r>
              <a:rPr lang="en-DK" b="0" dirty="0"/>
              <a:t> for </a:t>
            </a:r>
            <a:r>
              <a:rPr lang="en-DK" b="0" dirty="0" err="1"/>
              <a:t>phising</a:t>
            </a:r>
            <a:r>
              <a:rPr lang="en-DK" b="0" dirty="0"/>
              <a:t> </a:t>
            </a:r>
            <a:r>
              <a:rPr lang="en-DK" b="0" dirty="0" err="1"/>
              <a:t>og</a:t>
            </a:r>
            <a:r>
              <a:rPr lang="en-DK" b="0" dirty="0"/>
              <a:t> </a:t>
            </a:r>
            <a:r>
              <a:rPr lang="en-DK" b="0" dirty="0" err="1"/>
              <a:t>gener</a:t>
            </a:r>
            <a:r>
              <a:rPr lang="en-US" b="0" dirty="0"/>
              <a:t>a</a:t>
            </a:r>
            <a:r>
              <a:rPr lang="en-DK" b="0" dirty="0"/>
              <a:t>l social </a:t>
            </a:r>
            <a:r>
              <a:rPr lang="en-DK" b="0" dirty="0" err="1"/>
              <a:t>engenering</a:t>
            </a:r>
            <a:r>
              <a:rPr lang="en-DK" b="0" dirty="0"/>
              <a:t>.</a:t>
            </a:r>
          </a:p>
          <a:p>
            <a:endParaRPr lang="en-DK" b="0" dirty="0"/>
          </a:p>
          <a:p>
            <a:r>
              <a:rPr lang="da-DK" b="0" dirty="0"/>
              <a:t>SoA som Dokumentation: Statement of Applicability er et obligatorisk dokument, der bekræfter, hvilke foranstaltninger organisationen har valgt at implementere for at håndtere identificerede risici.</a:t>
            </a:r>
            <a:endParaRPr lang="en-DK" b="0" dirty="0"/>
          </a:p>
          <a:p>
            <a:r>
              <a:rPr lang="da-DK" dirty="0"/>
              <a:t>SOA-dokumentet er en </a:t>
            </a:r>
            <a:r>
              <a:rPr lang="da-DK" b="1" dirty="0"/>
              <a:t>oversigt over de sikkerhedskontroller</a:t>
            </a:r>
            <a:r>
              <a:rPr lang="da-DK" dirty="0"/>
              <a:t>, som en organisation har valgt at implementere (eller udelade) for at håndtere risici inden for informationssikkerhed. Det er en </a:t>
            </a:r>
            <a:r>
              <a:rPr lang="da-DK" b="1" dirty="0"/>
              <a:t>dynamisk del</a:t>
            </a:r>
            <a:r>
              <a:rPr lang="da-DK" dirty="0"/>
              <a:t> af organisationens ISMS og skal opdateres løbende.</a:t>
            </a:r>
            <a:endParaRPr lang="da-DK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D0EBB-B147-F0CD-C46E-4FD85D1673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33192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16642-45DF-DA64-6904-DC4E8FBD4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A4E56-6BE8-0343-6E29-E2E7A4A40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057FDA-BED5-7C08-8EAA-D5799AAB7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0" dirty="0"/>
              <a:t>https://www.cyberpilot.io/da/gratis-it-sikkerhed-og-gdpr-plakater</a:t>
            </a:r>
            <a:endParaRPr lang="en-DK" b="0" dirty="0"/>
          </a:p>
          <a:p>
            <a:endParaRPr lang="en-DK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Information </a:t>
            </a:r>
            <a:r>
              <a:rPr lang="en-DK" dirty="0">
                <a:sym typeface="Wingdings" panose="05000000000000000000" pitchFamily="2" charset="2"/>
              </a:rPr>
              <a:t> </a:t>
            </a:r>
            <a:r>
              <a:rPr lang="da-DK" dirty="0"/>
              <a:t>Fakta, regler </a:t>
            </a:r>
            <a:r>
              <a:rPr lang="en-DK" dirty="0">
                <a:sym typeface="Wingdings" panose="05000000000000000000" pitchFamily="2" charset="2"/>
              </a:rPr>
              <a:t> </a:t>
            </a:r>
            <a:r>
              <a:rPr lang="da-DK" dirty="0"/>
              <a:t>Phishing-info </a:t>
            </a:r>
            <a:r>
              <a:rPr lang="en-DK" dirty="0">
                <a:sym typeface="Wingdings" panose="05000000000000000000" pitchFamily="2" charset="2"/>
              </a:rPr>
              <a:t> </a:t>
            </a:r>
            <a:r>
              <a:rPr lang="da-DK" dirty="0"/>
              <a:t>Øger viden, men sjældent adfærd </a:t>
            </a:r>
            <a:r>
              <a:rPr lang="en-DK" dirty="0">
                <a:sym typeface="Wingdings" panose="05000000000000000000" pitchFamily="2" charset="2"/>
              </a:rPr>
              <a:t> </a:t>
            </a:r>
            <a:r>
              <a:rPr lang="da-DK" dirty="0"/>
              <a:t>Rational</a:t>
            </a:r>
            <a:r>
              <a:rPr lang="en-DK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Risiko &amp; konsekvens </a:t>
            </a:r>
            <a:r>
              <a:rPr lang="en-DK" dirty="0">
                <a:sym typeface="Wingdings" panose="05000000000000000000" pitchFamily="2" charset="2"/>
              </a:rPr>
              <a:t> </a:t>
            </a:r>
            <a:r>
              <a:rPr lang="da-DK" dirty="0"/>
              <a:t>Hvad kan gå galt </a:t>
            </a:r>
            <a:r>
              <a:rPr lang="en-DK" dirty="0">
                <a:sym typeface="Wingdings" panose="05000000000000000000" pitchFamily="2" charset="2"/>
              </a:rPr>
              <a:t> </a:t>
            </a:r>
            <a:r>
              <a:rPr lang="da-DK" dirty="0"/>
              <a:t>Skræmmescenarier </a:t>
            </a:r>
            <a:r>
              <a:rPr lang="en-DK" dirty="0">
                <a:sym typeface="Wingdings" panose="05000000000000000000" pitchFamily="2" charset="2"/>
              </a:rPr>
              <a:t> </a:t>
            </a:r>
            <a:r>
              <a:rPr lang="da-DK" dirty="0"/>
              <a:t>Opmærksomhed → udmattelse </a:t>
            </a:r>
            <a:r>
              <a:rPr lang="en-DK" dirty="0">
                <a:sym typeface="Wingdings" panose="05000000000000000000" pitchFamily="2" charset="2"/>
              </a:rPr>
              <a:t> </a:t>
            </a:r>
            <a:r>
              <a:rPr lang="da-DK" dirty="0"/>
              <a:t>Fear</a:t>
            </a:r>
          </a:p>
          <a:p>
            <a:endParaRPr lang="en-DK" b="0" dirty="0"/>
          </a:p>
          <a:p>
            <a:endParaRPr lang="en-DK" b="0" dirty="0"/>
          </a:p>
          <a:p>
            <a:r>
              <a:rPr lang="da-DK" dirty="0"/>
              <a:t>En </a:t>
            </a:r>
            <a:r>
              <a:rPr lang="da-DK" b="1" dirty="0"/>
              <a:t>Behaviour Change Technique (BCT)</a:t>
            </a:r>
            <a:r>
              <a:rPr lang="da-DK" dirty="0"/>
              <a:t> er et </a:t>
            </a:r>
            <a:r>
              <a:rPr lang="da-DK" i="1" dirty="0"/>
              <a:t>konkret greb</a:t>
            </a:r>
            <a:r>
              <a:rPr lang="da-DK" dirty="0"/>
              <a:t> designet til at påvirke eller støtte en specifik adfærd — fx instruktion, feedback, sociale normer eller påmindelser.</a:t>
            </a:r>
            <a:br>
              <a:rPr lang="da-DK" dirty="0"/>
            </a:br>
            <a:r>
              <a:rPr lang="da-DK" dirty="0"/>
              <a:t>Hvor appeals handler om </a:t>
            </a:r>
            <a:r>
              <a:rPr lang="da-DK" b="1" dirty="0"/>
              <a:t>hvordan budskabet kommunikeres</a:t>
            </a:r>
            <a:r>
              <a:rPr lang="da-DK" dirty="0"/>
              <a:t>, handler BCT’er om </a:t>
            </a:r>
            <a:r>
              <a:rPr lang="da-DK" b="1" dirty="0"/>
              <a:t>hvilke mekanismer der faktisk hjælper mennesker med at handle anderledes i praksis</a:t>
            </a:r>
            <a:r>
              <a:rPr lang="da-DK" dirty="0"/>
              <a:t>.</a:t>
            </a:r>
            <a:endParaRPr lang="en-DK" dirty="0"/>
          </a:p>
          <a:p>
            <a:endParaRPr lang="en-DK" b="0" dirty="0"/>
          </a:p>
          <a:p>
            <a:r>
              <a:rPr lang="da-DK" b="0" dirty="0"/>
              <a:t>Et appeal er den retoriske strategi en kampagne bruger til at påvirke modtageren — fx frygt, autoritet, faglig logik eller social identifikation.</a:t>
            </a:r>
          </a:p>
          <a:p>
            <a:r>
              <a:rPr lang="da-DK" b="0" dirty="0"/>
              <a:t>Appeals påvirker hvordan budskabet opleves, mens BCT’er påvirker hvilken adfærd budskabet fører til.</a:t>
            </a:r>
          </a:p>
          <a:p>
            <a:r>
              <a:rPr lang="da-DK" b="0" dirty="0"/>
              <a:t>Effektive sikkerhedskampagner kombinerer derfor både appeals og BCT’er.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37FF2-BFAF-333E-77D0-9525416AE5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43227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EC707-552E-E15E-3B0B-70DC6BEBC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9C99D2-D170-6894-C177-D635E2441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EC5916-5AE1-2420-1348-5D65A97AA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Motivation &amp; belønning 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dirty="0"/>
              <a:t>Engagement 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dirty="0"/>
              <a:t>Anerkendelse 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dirty="0"/>
              <a:t>Støtter indre motivation 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dirty="0"/>
              <a:t>Social </a:t>
            </a:r>
            <a:endParaRPr lang="en-DK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Sociale normer 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dirty="0"/>
              <a:t>“Sådan gør vi her” 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dirty="0"/>
              <a:t>Rollemodeller 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dirty="0"/>
              <a:t>Stærk drivkraft 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dirty="0"/>
              <a:t>Social </a:t>
            </a:r>
            <a:endParaRPr lang="en-DK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Feedback 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dirty="0"/>
              <a:t>Læring 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dirty="0"/>
              <a:t>Phishing-test 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dirty="0"/>
              <a:t>Skaber vaneændring 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dirty="0"/>
              <a:t>Rational</a:t>
            </a:r>
          </a:p>
          <a:p>
            <a:endParaRPr lang="en-DK" b="0" dirty="0"/>
          </a:p>
          <a:p>
            <a:endParaRPr lang="en-DK" b="0" dirty="0"/>
          </a:p>
          <a:p>
            <a:r>
              <a:rPr lang="da-DK" b="0" dirty="0"/>
              <a:t>En Behaviour Change Technique (BCT) er et konkret greb designet til at påvirke eller støtte en specifik adfærd — fx instruktion, feedback, sociale normer eller påmindelser.</a:t>
            </a:r>
            <a:br>
              <a:rPr lang="da-DK" b="0" dirty="0"/>
            </a:br>
            <a:r>
              <a:rPr lang="da-DK" b="0" dirty="0"/>
              <a:t>Hvor appeals handler om hvordan budskabet kommunikeres, handler BCT’er om hvilke mekanismer der faktisk hjælper mennesker med at handle anderledes i praksis.</a:t>
            </a:r>
          </a:p>
          <a:p>
            <a:endParaRPr lang="da-DK" b="0" dirty="0"/>
          </a:p>
          <a:p>
            <a:r>
              <a:rPr lang="da-DK" b="0" dirty="0"/>
              <a:t>Et appeal er den retoriske strategi en kampagne bruger til at påvirke modtageren — fx frygt, autoritet, faglig logik eller social identifikation.</a:t>
            </a:r>
          </a:p>
          <a:p>
            <a:r>
              <a:rPr lang="da-DK" b="0" dirty="0"/>
              <a:t>Appeals påvirker hvordan budskabet opleves, mens BCT’er påvirker hvilken adfærd budskabet fører til.</a:t>
            </a:r>
          </a:p>
          <a:p>
            <a:r>
              <a:rPr lang="da-DK" b="0" dirty="0"/>
              <a:t>Effektive sikkerhedskampagner kombinerer derfor både appeals og BCT’er.</a:t>
            </a:r>
          </a:p>
          <a:p>
            <a:endParaRPr lang="da-DK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C9E9D-D711-DCB1-6DF9-BEACC366C1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09351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7CF36-89DD-7BFD-C22C-21A5AF13B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ACD23D-9287-AC40-762D-0A31C7391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935314-3B38-8408-6A93-94097EB02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0" dirty="0"/>
              <a:t>Eksempler:</a:t>
            </a:r>
          </a:p>
          <a:p>
            <a:endParaRPr lang="da-DK" b="0" dirty="0"/>
          </a:p>
          <a:p>
            <a:r>
              <a:rPr lang="da-DK" b="0" dirty="0"/>
              <a:t>    Udvikling vægter hastighed → omgår regler</a:t>
            </a:r>
          </a:p>
          <a:p>
            <a:r>
              <a:rPr lang="da-DK" b="0" dirty="0"/>
              <a:t>    HR vægter korrekthed → tolker regler bogstaveligt</a:t>
            </a:r>
          </a:p>
          <a:p>
            <a:r>
              <a:rPr lang="da-DK" b="0" dirty="0"/>
              <a:t>    Teknikere vægter kundetilfredshed → tager genveje</a:t>
            </a:r>
          </a:p>
          <a:p>
            <a:endParaRPr lang="da-DK" b="0" dirty="0"/>
          </a:p>
          <a:p>
            <a:r>
              <a:rPr lang="da-DK" b="0" dirty="0"/>
              <a:t>Konsekvenser:</a:t>
            </a:r>
          </a:p>
          <a:p>
            <a:r>
              <a:rPr lang="da-DK" b="0" dirty="0"/>
              <a:t>Politikker modtages ikke ens → sikkerhedsefterlevelse varierer → misforståelser opstår.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AF51C-378A-D044-C7BA-2932318B1E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55460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68262-2569-4484-4AFE-E5E59AE86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807023-4006-2B39-6368-F246AC596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22A5B7-B9C4-60BE-4410-2517D900C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0" dirty="0"/>
              <a:t>SDT forklarer, hvorfor mennesker motiveres, og hvad der skaber stabil, indre motivation.</a:t>
            </a:r>
          </a:p>
          <a:p>
            <a:r>
              <a:rPr lang="da-DK" b="0" dirty="0"/>
              <a:t>For at der overhovedet er motivation hos en person, skal tre psykologiske grundbehov være rimeligt opfyldt.</a:t>
            </a:r>
          </a:p>
          <a:p>
            <a:r>
              <a:rPr lang="da-DK" b="0" dirty="0"/>
              <a:t>Motivationens kvalitet kan derefter forstærkes eller svækkes af ydre påvirkninger (fx regler, kontrol, krav og forståelse for formålet).</a:t>
            </a:r>
            <a:endParaRPr lang="en-DK" b="0" dirty="0"/>
          </a:p>
          <a:p>
            <a:endParaRPr lang="en-DK" b="0" dirty="0"/>
          </a:p>
          <a:p>
            <a:r>
              <a:rPr lang="en-DK" b="0" dirty="0"/>
              <a:t>Phishing test er </a:t>
            </a:r>
            <a:r>
              <a:rPr lang="en-DK" b="0" dirty="0" err="1"/>
              <a:t>meget</a:t>
            </a:r>
            <a:r>
              <a:rPr lang="en-DK" b="0" dirty="0"/>
              <a:t> god, da </a:t>
            </a:r>
            <a:r>
              <a:rPr lang="en-DK" b="0" dirty="0" err="1"/>
              <a:t>medarbjedere</a:t>
            </a:r>
            <a:r>
              <a:rPr lang="en-DK" b="0" dirty="0"/>
              <a:t>, </a:t>
            </a:r>
            <a:r>
              <a:rPr lang="en-DK" b="0" dirty="0" err="1"/>
              <a:t>får</a:t>
            </a:r>
            <a:r>
              <a:rPr lang="en-DK" b="0" dirty="0"/>
              <a:t> </a:t>
            </a:r>
            <a:r>
              <a:rPr lang="en-DK" b="0" dirty="0" err="1"/>
              <a:t>stillet</a:t>
            </a:r>
            <a:r>
              <a:rPr lang="en-DK" b="0" dirty="0"/>
              <a:t> </a:t>
            </a:r>
            <a:r>
              <a:rPr lang="en-DK" b="0" dirty="0" err="1"/>
              <a:t>deres</a:t>
            </a:r>
            <a:r>
              <a:rPr lang="en-DK" b="0" dirty="0"/>
              <a:t> </a:t>
            </a:r>
            <a:r>
              <a:rPr lang="en-DK" b="1" dirty="0" err="1"/>
              <a:t>Autonomi</a:t>
            </a:r>
            <a:r>
              <a:rPr lang="en-DK" b="0" dirty="0"/>
              <a:t> </a:t>
            </a:r>
            <a:r>
              <a:rPr lang="en-DK" b="0" dirty="0" err="1"/>
              <a:t>behov</a:t>
            </a:r>
            <a:r>
              <a:rPr lang="en-DK" b="0" dirty="0"/>
              <a:t> </a:t>
            </a:r>
            <a:r>
              <a:rPr lang="en-DK" b="0" dirty="0" err="1"/>
              <a:t>muligheden</a:t>
            </a:r>
            <a:r>
              <a:rPr lang="en-DK" b="0" dirty="0"/>
              <a:t> for </a:t>
            </a:r>
            <a:r>
              <a:rPr lang="en-DK" b="0" dirty="0" err="1"/>
              <a:t>selv</a:t>
            </a:r>
            <a:r>
              <a:rPr lang="en-DK" b="0" dirty="0"/>
              <a:t> at </a:t>
            </a:r>
            <a:r>
              <a:rPr lang="en-DK" b="0" dirty="0" err="1"/>
              <a:t>finde</a:t>
            </a:r>
            <a:r>
              <a:rPr lang="en-DK" b="0" dirty="0"/>
              <a:t> phishing </a:t>
            </a:r>
            <a:r>
              <a:rPr lang="en-DK" b="0" dirty="0" err="1"/>
              <a:t>angreb</a:t>
            </a:r>
            <a:r>
              <a:rPr lang="en-DK" b="0" dirty="0"/>
              <a:t>, </a:t>
            </a:r>
            <a:r>
              <a:rPr lang="en-DK" b="0" dirty="0" err="1"/>
              <a:t>som</a:t>
            </a:r>
            <a:r>
              <a:rPr lang="en-DK" b="0" dirty="0"/>
              <a:t> </a:t>
            </a:r>
            <a:r>
              <a:rPr lang="en-DK" b="0" dirty="0" err="1"/>
              <a:t>gør</a:t>
            </a:r>
            <a:r>
              <a:rPr lang="en-DK" b="0" dirty="0"/>
              <a:t> at de </a:t>
            </a:r>
            <a:r>
              <a:rPr lang="en-DK" b="0" dirty="0" err="1"/>
              <a:t>aktivt</a:t>
            </a:r>
            <a:r>
              <a:rPr lang="en-DK" b="0" dirty="0"/>
              <a:t> </a:t>
            </a:r>
            <a:r>
              <a:rPr lang="en-DK" b="0" dirty="0" err="1"/>
              <a:t>deltager</a:t>
            </a:r>
            <a:r>
              <a:rPr lang="en-DK" b="0" dirty="0"/>
              <a:t>.</a:t>
            </a:r>
          </a:p>
          <a:p>
            <a:r>
              <a:rPr lang="en-DK" b="0" dirty="0"/>
              <a:t>Det stiller </a:t>
            </a:r>
            <a:r>
              <a:rPr lang="en-DK" b="0" dirty="0" err="1"/>
              <a:t>også</a:t>
            </a:r>
            <a:r>
              <a:rPr lang="en-DK" b="0" dirty="0"/>
              <a:t> </a:t>
            </a:r>
            <a:r>
              <a:rPr lang="en-DK" b="0" dirty="0" err="1"/>
              <a:t>deres</a:t>
            </a:r>
            <a:r>
              <a:rPr lang="en-DK" b="0" dirty="0"/>
              <a:t> </a:t>
            </a:r>
            <a:r>
              <a:rPr lang="en-DK" b="1" dirty="0" err="1"/>
              <a:t>kompetance</a:t>
            </a:r>
            <a:r>
              <a:rPr lang="en-DK" b="0" dirty="0"/>
              <a:t> </a:t>
            </a:r>
            <a:r>
              <a:rPr lang="en-DK" b="0" dirty="0" err="1"/>
              <a:t>behov</a:t>
            </a:r>
            <a:r>
              <a:rPr lang="en-DK" b="0" dirty="0"/>
              <a:t>, da det er </a:t>
            </a:r>
            <a:r>
              <a:rPr lang="en-DK" b="0" dirty="0" err="1"/>
              <a:t>noget</a:t>
            </a:r>
            <a:r>
              <a:rPr lang="en-DK" b="0" dirty="0"/>
              <a:t> de </a:t>
            </a:r>
            <a:r>
              <a:rPr lang="en-DK" b="0" dirty="0" err="1"/>
              <a:t>løbende</a:t>
            </a:r>
            <a:r>
              <a:rPr lang="en-DK" b="0" dirty="0"/>
              <a:t> </a:t>
            </a:r>
            <a:r>
              <a:rPr lang="en-DK" b="0" dirty="0" err="1"/>
              <a:t>kan</a:t>
            </a:r>
            <a:r>
              <a:rPr lang="en-DK" b="0" dirty="0"/>
              <a:t> </a:t>
            </a:r>
            <a:r>
              <a:rPr lang="en-DK" b="0" dirty="0" err="1"/>
              <a:t>blive</a:t>
            </a:r>
            <a:r>
              <a:rPr lang="en-DK" b="0" dirty="0"/>
              <a:t> </a:t>
            </a:r>
            <a:r>
              <a:rPr lang="en-DK" b="0" dirty="0" err="1"/>
              <a:t>bedere</a:t>
            </a:r>
            <a:r>
              <a:rPr lang="en-DK" b="0" dirty="0"/>
              <a:t> </a:t>
            </a:r>
            <a:r>
              <a:rPr lang="en-DK" b="0" dirty="0" err="1"/>
              <a:t>til</a:t>
            </a:r>
            <a:r>
              <a:rPr lang="en-DK" b="0" dirty="0"/>
              <a:t> at </a:t>
            </a:r>
            <a:r>
              <a:rPr lang="en-DK" b="0" dirty="0" err="1"/>
              <a:t>fange</a:t>
            </a:r>
            <a:r>
              <a:rPr lang="en-DK" b="0" dirty="0"/>
              <a:t>.</a:t>
            </a:r>
          </a:p>
          <a:p>
            <a:r>
              <a:rPr lang="en-DK" b="0" dirty="0"/>
              <a:t>Det stiller </a:t>
            </a:r>
            <a:r>
              <a:rPr lang="en-DK" b="0" dirty="0" err="1"/>
              <a:t>også</a:t>
            </a:r>
            <a:r>
              <a:rPr lang="en-DK" b="0" dirty="0"/>
              <a:t> </a:t>
            </a:r>
            <a:r>
              <a:rPr lang="en-DK" b="1" dirty="0" err="1"/>
              <a:t>tilhørdsforhold</a:t>
            </a:r>
            <a:r>
              <a:rPr lang="en-DK" b="0" dirty="0"/>
              <a:t> da der er et leaderboard, </a:t>
            </a:r>
            <a:r>
              <a:rPr lang="en-DK" b="0" dirty="0" err="1"/>
              <a:t>hvor</a:t>
            </a:r>
            <a:r>
              <a:rPr lang="en-DK" b="0" dirty="0"/>
              <a:t> man </a:t>
            </a:r>
            <a:r>
              <a:rPr lang="en-DK" b="0" dirty="0" err="1"/>
              <a:t>kan</a:t>
            </a:r>
            <a:r>
              <a:rPr lang="en-DK" b="0" dirty="0"/>
              <a:t> </a:t>
            </a:r>
            <a:r>
              <a:rPr lang="en-DK" b="0" dirty="0" err="1"/>
              <a:t>sammenligne</a:t>
            </a:r>
            <a:r>
              <a:rPr lang="en-DK" b="0" dirty="0"/>
              <a:t> sig med </a:t>
            </a:r>
            <a:r>
              <a:rPr lang="en-DK" b="0" dirty="0" err="1"/>
              <a:t>andre</a:t>
            </a:r>
            <a:r>
              <a:rPr lang="en-DK" b="0" dirty="0"/>
              <a:t>, </a:t>
            </a:r>
            <a:r>
              <a:rPr lang="en-DK" b="0" dirty="0" err="1"/>
              <a:t>hvilket</a:t>
            </a:r>
            <a:r>
              <a:rPr lang="en-DK" b="0" dirty="0"/>
              <a:t> </a:t>
            </a:r>
            <a:r>
              <a:rPr lang="en-DK" b="0" dirty="0" err="1"/>
              <a:t>gameifier</a:t>
            </a:r>
            <a:r>
              <a:rPr lang="en-DK" b="0" dirty="0"/>
              <a:t> hele </a:t>
            </a:r>
            <a:r>
              <a:rPr lang="en-DK" b="0" dirty="0" err="1"/>
              <a:t>kampangen</a:t>
            </a:r>
            <a:r>
              <a:rPr lang="en-DK" b="0" dirty="0"/>
              <a:t>.</a:t>
            </a:r>
            <a:endParaRPr lang="da-DK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DB38B-0738-6E4E-5135-2598CCE38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6317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B5FFE-EDFC-ACBC-BA68-225BA411E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CF9864-9401-0709-8206-BA803B1D6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A4749-1E47-A010-232D-988AE10F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BE893-758D-AD20-8EE1-A484BFDB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D608B-3562-DA27-DC7E-0C8DC504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8375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D800-310D-D8C8-21FF-5A05C5990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25AFA-EBE4-C93E-DE1F-2C2A303E1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10E9A-D3FA-851B-8B31-7D6D29AEC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24266-9B98-38E9-7941-EDA9BA602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BF174-087F-4EAD-3923-5FCEBB3C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8235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8B464-7F3A-7BA0-1B8F-8A408BBD3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BA005-74D1-2AD1-7A3E-A940804CE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FE4C3-AEAE-524F-AC6A-6C3CF3D44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C0A2F-182A-4426-77B2-A8A5E0C6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AB437-4367-D23A-BD46-48010EBDF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97496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01E70-4C07-B1E4-832D-8870BF545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8FA21-3224-7ED5-1C66-5FB48036A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8ACA5-7EC0-C737-0506-F99C470A7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5DC4F-3088-BC83-5170-6F84FDDE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75445-4B2A-7090-F9F4-90685E6C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C7EE9-D5F9-BACC-40E1-671EC26C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81428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2B49-8F78-EBF1-CDCE-BE7528AEC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3173A-2CED-94BD-42CB-0B1B72E1C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3A99F-4FCE-2B33-8970-60E0259B6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61E45-82AB-B0FD-8492-D057336C2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924A88-0EE3-BDA6-3FB8-F8FFE71587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F601FE-50C9-0D91-6431-5A5D72B3A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85FEB3-7336-C02E-3EB8-5F69BABC4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6CED1A-8C2D-2BC4-4E59-2477CA8A5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012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29C7-65A0-8FCB-A60F-0DC5BE202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45A858-FAFD-B4CB-D7AC-1CF8C394F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81C6E-9786-53B3-4FA9-DC4CA865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DBACC-F027-F781-CB56-4A355296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18609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3B1E66-4AB2-5C5E-5D75-3CC1040F9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906884-4FC7-56DF-6A1F-0109258D5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36D7B-68F6-DD06-CA79-2D4C1B83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5261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56CB-A15D-7F39-72F2-454482D76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1A20-6C42-60DD-67E6-3B811B5EA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227CC-8A48-D79C-FEEB-28CCC6BE5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F5E77-1F48-3274-9559-E1605C0E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5E774-395E-409D-413B-F4144E4D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6C51C-815C-9C8E-8339-7628AAFA4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54135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557E-1B46-851D-B42B-A26E6F96E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D48861-EACF-2E4D-A2C2-822A2A2FD8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1FC3E-26E9-3E15-7D20-AAE7C44D6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D3F0B-C2A1-C117-683C-BEB7598C1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FDAFB-1432-45BE-791C-DAAFED07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10CAA-605B-C267-4340-E54FEDECE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29573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3332-5AFC-CE3B-3A63-FB7718CAE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68B8A-1F13-4A35-89DD-DB93BD367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CF81D-3753-91C8-8808-781563D94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213B7-D201-EA42-A740-38038C318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5C277-9135-90F4-9347-03A64348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523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CE2B7C-250C-87A9-EA9F-B82ADF79CB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80A32-95ED-A373-88EF-E5E7F421C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91FFD-220C-2206-8315-198F89AA6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54050-1591-0885-BD3E-EB859A603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53E09-2A16-DC73-DFC8-DC38F848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49602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30EB3B-03D0-1C97-E272-5B086558A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BED85-A387-9BD6-0DAD-4D6235F64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407C5-88E4-1CCD-B00D-291C7ECEA6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228FE-B5E4-72B5-8145-B17A89E4B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B7A35-712B-6F59-53D2-1CECBFBBA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80402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A1A01-354D-D814-1194-77A1D6D79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903" y="949325"/>
            <a:ext cx="8071706" cy="2387600"/>
          </a:xfrm>
        </p:spPr>
        <p:txBody>
          <a:bodyPr>
            <a:noAutofit/>
          </a:bodyPr>
          <a:lstStyle/>
          <a:p>
            <a:pPr algn="l"/>
            <a:r>
              <a:rPr lang="da-DK" sz="3600" noProof="0" dirty="0">
                <a:solidFill>
                  <a:schemeClr val="bg1"/>
                </a:solidFill>
              </a:rPr>
              <a:t>Hvordan kan organisationens kultur og medarbejdernes adfærd enten understøtte eller skabe modstand</a:t>
            </a:r>
            <a:br>
              <a:rPr lang="da-DK" sz="3600" noProof="0" dirty="0">
                <a:solidFill>
                  <a:schemeClr val="bg1"/>
                </a:solidFill>
              </a:rPr>
            </a:br>
            <a:r>
              <a:rPr lang="da-DK" sz="3600" noProof="0" dirty="0">
                <a:solidFill>
                  <a:schemeClr val="bg1"/>
                </a:solidFill>
              </a:rPr>
              <a:t>mod IT-sikkerhedskrav, og hvilke metoder kan anvendes til at opnå efterlevelse?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C4819-77DC-09B1-9CEC-378623220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2902" y="3429000"/>
            <a:ext cx="8071697" cy="1655762"/>
          </a:xfrm>
        </p:spPr>
        <p:txBody>
          <a:bodyPr>
            <a:normAutofit lnSpcReduction="10000"/>
          </a:bodyPr>
          <a:lstStyle/>
          <a:p>
            <a:pPr algn="l"/>
            <a:endParaRPr lang="da-DK" sz="1800" noProof="0" dirty="0">
              <a:solidFill>
                <a:schemeClr val="bg1"/>
              </a:solidFill>
            </a:endParaRPr>
          </a:p>
          <a:p>
            <a:pPr algn="l"/>
            <a:r>
              <a:rPr lang="da-DK" sz="3200" noProof="0" dirty="0">
                <a:solidFill>
                  <a:schemeClr val="bg1"/>
                </a:solidFill>
              </a:rPr>
              <a:t>Noah Rosenkjær</a:t>
            </a:r>
            <a:br>
              <a:rPr lang="da-DK" sz="1800" noProof="0" dirty="0">
                <a:solidFill>
                  <a:schemeClr val="bg1"/>
                </a:solidFill>
              </a:rPr>
            </a:br>
            <a:endParaRPr lang="da-DK" sz="1800" noProof="0" dirty="0">
              <a:solidFill>
                <a:schemeClr val="bg1"/>
              </a:solidFill>
            </a:endParaRPr>
          </a:p>
          <a:p>
            <a:pPr algn="l"/>
            <a:br>
              <a:rPr lang="da-DK" sz="1800" noProof="0" dirty="0">
                <a:solidFill>
                  <a:schemeClr val="bg1"/>
                </a:solidFill>
              </a:rPr>
            </a:br>
            <a:r>
              <a:rPr lang="da-DK" sz="1800" noProof="0" dirty="0">
                <a:solidFill>
                  <a:schemeClr val="bg1"/>
                </a:solidFill>
              </a:rPr>
              <a:t>UCL Erhvervsakademi og Professionshøjskole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2FFE04-74FB-867D-7EFB-266E0D73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da-DK" sz="8000" noProof="0" dirty="0">
                <a:solidFill>
                  <a:schemeClr val="bg1"/>
                </a:solidFill>
              </a:rPr>
              <a:t>Agenda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D6F38-6102-5645-FD80-F56189841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0796" y="1108061"/>
            <a:ext cx="4959308" cy="4571972"/>
          </a:xfrm>
        </p:spPr>
        <p:txBody>
          <a:bodyPr anchor="ctr">
            <a:normAutofit/>
          </a:bodyPr>
          <a:lstStyle/>
          <a:p>
            <a:r>
              <a:rPr lang="en-DK" sz="2600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sz="2600" noProof="0" dirty="0">
                <a:solidFill>
                  <a:schemeClr val="bg1"/>
                </a:solidFill>
              </a:rPr>
              <a:t>SOA</a:t>
            </a:r>
          </a:p>
          <a:p>
            <a:r>
              <a:rPr lang="en-DK" sz="2600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Behaviour</a:t>
            </a:r>
            <a:r>
              <a:rPr lang="en-DK" sz="2600" dirty="0">
                <a:solidFill>
                  <a:schemeClr val="bg1"/>
                </a:solidFill>
              </a:rPr>
              <a:t> </a:t>
            </a:r>
            <a:r>
              <a:rPr lang="en-US" sz="2600" dirty="0">
                <a:solidFill>
                  <a:schemeClr val="bg1"/>
                </a:solidFill>
              </a:rPr>
              <a:t>Change Techniques</a:t>
            </a:r>
            <a:endParaRPr lang="en-DK" sz="2600" noProof="0" dirty="0">
              <a:solidFill>
                <a:schemeClr val="bg1"/>
              </a:solidFill>
            </a:endParaRPr>
          </a:p>
          <a:p>
            <a:r>
              <a:rPr lang="en-DK" sz="2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sz="2600" dirty="0">
                <a:solidFill>
                  <a:schemeClr val="bg1"/>
                </a:solidFill>
              </a:rPr>
              <a:t>Self-Determination Theory</a:t>
            </a:r>
            <a:endParaRPr lang="en-DK" sz="2600" dirty="0">
              <a:solidFill>
                <a:schemeClr val="bg1"/>
              </a:solidFill>
            </a:endParaRPr>
          </a:p>
          <a:p>
            <a:r>
              <a:rPr lang="en-DK" sz="2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sz="2600" noProof="0" dirty="0" err="1">
                <a:solidFill>
                  <a:schemeClr val="bg1"/>
                </a:solidFill>
              </a:rPr>
              <a:t>Kulturel</a:t>
            </a:r>
            <a:r>
              <a:rPr lang="en-DK" sz="2600" noProof="0" dirty="0">
                <a:solidFill>
                  <a:schemeClr val="bg1"/>
                </a:solidFill>
              </a:rPr>
              <a:t> bias</a:t>
            </a:r>
          </a:p>
          <a:p>
            <a:pPr marL="0" indent="0">
              <a:buNone/>
            </a:pPr>
            <a:endParaRPr lang="da-DK" sz="26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38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BE5E4A-34E8-5222-9576-293AF3F17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20AB0-84E9-4AE7-6C45-0823904D1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DK" sz="4000" noProof="0" dirty="0">
                <a:solidFill>
                  <a:schemeClr val="bg1"/>
                </a:solidFill>
              </a:rPr>
              <a:t>SOA </a:t>
            </a:r>
            <a:r>
              <a:rPr lang="en-DK" sz="4000" noProof="0" dirty="0" err="1">
                <a:solidFill>
                  <a:schemeClr val="bg1"/>
                </a:solidFill>
              </a:rPr>
              <a:t>dokument</a:t>
            </a:r>
            <a:endParaRPr lang="da-DK" sz="4000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1FF55-01A8-1D93-93D4-B7DB1EF89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8267" cy="4351338"/>
          </a:xfrm>
        </p:spPr>
        <p:txBody>
          <a:bodyPr>
            <a:normAutofit/>
          </a:bodyPr>
          <a:lstStyle/>
          <a:p>
            <a:r>
              <a:rPr lang="en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Risikovurdering</a:t>
            </a:r>
            <a:endParaRPr lang="en-DK" dirty="0">
              <a:solidFill>
                <a:schemeClr val="bg1"/>
              </a:solidFill>
            </a:endParaRPr>
          </a:p>
          <a:p>
            <a:pPr lvl="1"/>
            <a:r>
              <a:rPr lang="en-DK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>
                <a:solidFill>
                  <a:schemeClr val="bg1"/>
                </a:solidFill>
              </a:rPr>
              <a:t>Phishing</a:t>
            </a:r>
            <a:r>
              <a:rPr lang="en-DK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DK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NIS2</a:t>
            </a:r>
          </a:p>
          <a:p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528F8AB-9BAA-F42B-D435-CC21BDEF0B23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3359727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0314427-E282-76AC-D02F-C0DDD42980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1290"/>
          <a:stretch>
            <a:fillRect/>
          </a:stretch>
        </p:blipFill>
        <p:spPr>
          <a:xfrm>
            <a:off x="223167" y="4963915"/>
            <a:ext cx="11723299" cy="90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428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45D69B-8DFE-8606-D82B-2CE3A59E0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82EC0-EAE4-3E06-DBBC-1FFA7F5AC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4000" noProof="0" dirty="0">
                <a:solidFill>
                  <a:schemeClr val="bg1"/>
                </a:solidFill>
              </a:rPr>
              <a:t>Behaviour</a:t>
            </a:r>
            <a:r>
              <a:rPr lang="en-DK" sz="4000" noProof="0" dirty="0">
                <a:solidFill>
                  <a:schemeClr val="bg1"/>
                </a:solidFill>
              </a:rPr>
              <a:t> </a:t>
            </a:r>
            <a:r>
              <a:rPr lang="da-DK" sz="4000" noProof="0" dirty="0">
                <a:solidFill>
                  <a:schemeClr val="bg1"/>
                </a:solidFill>
              </a:rPr>
              <a:t>Change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7FB8F-DD67-34BA-D048-6F92962DC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8267" cy="4351338"/>
          </a:xfrm>
        </p:spPr>
        <p:txBody>
          <a:bodyPr>
            <a:normAutofit/>
          </a:bodyPr>
          <a:lstStyle/>
          <a:p>
            <a:r>
              <a:rPr lang="en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T</a:t>
            </a:r>
            <a:r>
              <a:rPr lang="da-DK" noProof="0" dirty="0">
                <a:solidFill>
                  <a:schemeClr val="bg1"/>
                </a:solidFill>
              </a:rPr>
              <a:t>raditionel awareness</a:t>
            </a:r>
            <a:endParaRPr lang="en-DK" noProof="0" dirty="0">
              <a:solidFill>
                <a:schemeClr val="bg1"/>
              </a:solidFill>
            </a:endParaRPr>
          </a:p>
          <a:p>
            <a:r>
              <a:rPr lang="en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BCT</a:t>
            </a:r>
          </a:p>
          <a:p>
            <a:pPr lvl="1"/>
            <a:r>
              <a:rPr lang="en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noProof="0" dirty="0">
                <a:solidFill>
                  <a:schemeClr val="bg1"/>
                </a:solidFill>
              </a:rPr>
              <a:t>Information</a:t>
            </a:r>
            <a:endParaRPr lang="en-DK" noProof="0" dirty="0">
              <a:solidFill>
                <a:schemeClr val="bg1"/>
              </a:solidFill>
            </a:endParaRPr>
          </a:p>
          <a:p>
            <a:pPr lvl="1"/>
            <a:r>
              <a:rPr lang="en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noProof="0" dirty="0" err="1">
                <a:solidFill>
                  <a:schemeClr val="bg1"/>
                </a:solidFill>
              </a:rPr>
              <a:t>Risiko</a:t>
            </a:r>
            <a:r>
              <a:rPr lang="en-US" noProof="0" dirty="0">
                <a:solidFill>
                  <a:schemeClr val="bg1"/>
                </a:solidFill>
              </a:rPr>
              <a:t> &amp; </a:t>
            </a:r>
            <a:r>
              <a:rPr lang="en-US" noProof="0" dirty="0" err="1">
                <a:solidFill>
                  <a:schemeClr val="bg1"/>
                </a:solidFill>
              </a:rPr>
              <a:t>konsekvens</a:t>
            </a:r>
            <a:endParaRPr lang="en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AAE8148-AC63-7520-DE47-64EAF7064974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6269182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poster with a bear trap and chains&#10;&#10;AI-generated content may be incorrect.">
            <a:extLst>
              <a:ext uri="{FF2B5EF4-FFF2-40B4-BE49-F238E27FC236}">
                <a16:creationId xmlns:a16="http://schemas.microsoft.com/office/drawing/2014/main" id="{96762CFC-5110-4D3E-B1D3-EB676A993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038" y="-12469"/>
            <a:ext cx="48429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589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721A44-AE6F-37F2-08CE-C49F23E09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4E558-383F-F4AA-2C2E-193385571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4000" noProof="0" dirty="0">
                <a:solidFill>
                  <a:schemeClr val="bg1"/>
                </a:solidFill>
              </a:rPr>
              <a:t>Behaviour</a:t>
            </a:r>
            <a:r>
              <a:rPr lang="en-DK" sz="4000" noProof="0" dirty="0">
                <a:solidFill>
                  <a:schemeClr val="bg1"/>
                </a:solidFill>
              </a:rPr>
              <a:t> </a:t>
            </a:r>
            <a:r>
              <a:rPr lang="da-DK" sz="4000" noProof="0" dirty="0">
                <a:solidFill>
                  <a:schemeClr val="bg1"/>
                </a:solidFill>
              </a:rPr>
              <a:t>Change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66CC0-6D24-EB28-1235-D99D65B0B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8267" cy="4351338"/>
          </a:xfrm>
        </p:spPr>
        <p:txBody>
          <a:bodyPr>
            <a:normAutofit/>
          </a:bodyPr>
          <a:lstStyle/>
          <a:p>
            <a:r>
              <a:rPr lang="en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A</a:t>
            </a:r>
            <a:r>
              <a:rPr lang="da-DK" noProof="0" dirty="0">
                <a:solidFill>
                  <a:schemeClr val="bg1"/>
                </a:solidFill>
              </a:rPr>
              <a:t>dfærdspåvirkning</a:t>
            </a:r>
            <a:endParaRPr lang="en-DK" noProof="0" dirty="0">
              <a:solidFill>
                <a:schemeClr val="bg1"/>
              </a:solidFill>
            </a:endParaRPr>
          </a:p>
          <a:p>
            <a:r>
              <a:rPr lang="en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noProof="0" dirty="0">
                <a:solidFill>
                  <a:schemeClr val="bg1"/>
                </a:solidFill>
              </a:rPr>
              <a:t>BCT</a:t>
            </a:r>
          </a:p>
          <a:p>
            <a:pPr lvl="1"/>
            <a:r>
              <a:rPr lang="en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Feedback</a:t>
            </a:r>
            <a:endParaRPr lang="en-DK" noProof="0" dirty="0">
              <a:solidFill>
                <a:schemeClr val="bg1"/>
              </a:solidFill>
            </a:endParaRPr>
          </a:p>
          <a:p>
            <a:pPr lvl="1"/>
            <a:r>
              <a:rPr lang="en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Motivation &amp; belønning</a:t>
            </a:r>
            <a:endParaRPr lang="en-DK" noProof="0" dirty="0">
              <a:solidFill>
                <a:schemeClr val="bg1"/>
              </a:solidFill>
            </a:endParaRPr>
          </a:p>
          <a:p>
            <a:pPr lvl="1"/>
            <a:r>
              <a:rPr lang="en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Sociale normer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AC23F4-2B5F-ED5E-C75E-F3E2863A0AA2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6294120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ow To Avoid Phishing Attacks With An Employee Phishing Test">
            <a:extLst>
              <a:ext uri="{FF2B5EF4-FFF2-40B4-BE49-F238E27FC236}">
                <a16:creationId xmlns:a16="http://schemas.microsoft.com/office/drawing/2014/main" id="{4FCCBEE5-724A-993D-57F9-43E29A07A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126" y="2882900"/>
            <a:ext cx="6477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637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1841DE-E87B-8805-6B4B-D03E5D799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0EDDD-ED49-702F-E315-4D0EE9FAE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4000" noProof="0" dirty="0">
                <a:solidFill>
                  <a:schemeClr val="bg1"/>
                </a:solidFill>
              </a:rPr>
              <a:t>Kulturel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016BF-D328-96E7-FEC2-EEE9B99E3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8267" cy="4351338"/>
          </a:xfrm>
        </p:spPr>
        <p:txBody>
          <a:bodyPr>
            <a:normAutofit/>
          </a:bodyPr>
          <a:lstStyle/>
          <a:p>
            <a:r>
              <a:rPr lang="en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Udvikling</a:t>
            </a:r>
            <a:endParaRPr lang="en-DK" dirty="0">
              <a:solidFill>
                <a:schemeClr val="bg1"/>
              </a:solidFill>
            </a:endParaRPr>
          </a:p>
          <a:p>
            <a:pPr lvl="1"/>
            <a:r>
              <a:rPr lang="en-DK" dirty="0">
                <a:solidFill>
                  <a:schemeClr val="bg1"/>
                </a:solidFill>
              </a:rPr>
              <a:t>D</a:t>
            </a:r>
            <a:r>
              <a:rPr lang="en-US" dirty="0" err="1">
                <a:solidFill>
                  <a:schemeClr val="bg1"/>
                </a:solidFill>
              </a:rPr>
              <a:t>okumentation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som</a:t>
            </a:r>
            <a:r>
              <a:rPr lang="en-US" dirty="0">
                <a:solidFill>
                  <a:schemeClr val="bg1"/>
                </a:solidFill>
              </a:rPr>
              <a:t> irrelevant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2FA </a:t>
            </a:r>
            <a:r>
              <a:rPr lang="en-US" dirty="0" err="1">
                <a:solidFill>
                  <a:schemeClr val="bg1"/>
                </a:solidFill>
              </a:rPr>
              <a:t>som</a:t>
            </a:r>
            <a:r>
              <a:rPr lang="en-US" dirty="0">
                <a:solidFill>
                  <a:schemeClr val="bg1"/>
                </a:solidFill>
              </a:rPr>
              <a:t> workflow-</a:t>
            </a:r>
            <a:r>
              <a:rPr lang="en-US" dirty="0" err="1">
                <a:solidFill>
                  <a:schemeClr val="bg1"/>
                </a:solidFill>
              </a:rPr>
              <a:t>forstyrrelse</a:t>
            </a:r>
            <a:r>
              <a:rPr lang="en-US" dirty="0">
                <a:solidFill>
                  <a:schemeClr val="bg1"/>
                </a:solidFill>
              </a:rPr>
              <a:t> </a:t>
            </a:r>
            <a:endParaRPr lang="en-DK" dirty="0">
              <a:solidFill>
                <a:schemeClr val="bg1"/>
              </a:solidFill>
            </a:endParaRPr>
          </a:p>
          <a:p>
            <a:r>
              <a:rPr lang="en-DK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noProof="0" dirty="0">
                <a:solidFill>
                  <a:schemeClr val="bg1"/>
                </a:solidFill>
              </a:rPr>
              <a:t>HR</a:t>
            </a:r>
          </a:p>
          <a:p>
            <a:pPr lvl="1"/>
            <a:r>
              <a:rPr lang="en-DK" dirty="0">
                <a:solidFill>
                  <a:schemeClr val="bg1"/>
                </a:solidFill>
              </a:rPr>
              <a:t>U</a:t>
            </a:r>
            <a:r>
              <a:rPr lang="en-US" noProof="0" dirty="0" err="1">
                <a:solidFill>
                  <a:schemeClr val="bg1"/>
                </a:solidFill>
              </a:rPr>
              <a:t>klare</a:t>
            </a:r>
            <a:r>
              <a:rPr lang="en-US" noProof="0" dirty="0">
                <a:solidFill>
                  <a:schemeClr val="bg1"/>
                </a:solidFill>
              </a:rPr>
              <a:t> </a:t>
            </a:r>
            <a:r>
              <a:rPr lang="en-US" noProof="0" dirty="0" err="1">
                <a:solidFill>
                  <a:schemeClr val="bg1"/>
                </a:solidFill>
              </a:rPr>
              <a:t>og</a:t>
            </a:r>
            <a:r>
              <a:rPr lang="en-US" noProof="0" dirty="0">
                <a:solidFill>
                  <a:schemeClr val="bg1"/>
                </a:solidFill>
              </a:rPr>
              <a:t> </a:t>
            </a:r>
            <a:r>
              <a:rPr lang="en-US" noProof="0" dirty="0" err="1">
                <a:solidFill>
                  <a:schemeClr val="bg1"/>
                </a:solidFill>
              </a:rPr>
              <a:t>tekniske</a:t>
            </a:r>
            <a:r>
              <a:rPr lang="en-US" noProof="0" dirty="0">
                <a:solidFill>
                  <a:schemeClr val="bg1"/>
                </a:solidFill>
              </a:rPr>
              <a:t> </a:t>
            </a:r>
            <a:r>
              <a:rPr lang="en-US" noProof="0" dirty="0" err="1">
                <a:solidFill>
                  <a:schemeClr val="bg1"/>
                </a:solidFill>
              </a:rPr>
              <a:t>forklaringer</a:t>
            </a:r>
            <a:endParaRPr lang="en-DK" noProof="0" dirty="0">
              <a:solidFill>
                <a:schemeClr val="bg1"/>
              </a:solidFill>
            </a:endParaRPr>
          </a:p>
          <a:p>
            <a:pPr lvl="1"/>
            <a:r>
              <a:rPr lang="en-DK" noProof="0" dirty="0">
                <a:solidFill>
                  <a:schemeClr val="bg1"/>
                </a:solidFill>
              </a:rPr>
              <a:t>U</a:t>
            </a:r>
            <a:r>
              <a:rPr lang="da-DK" noProof="0" dirty="0">
                <a:solidFill>
                  <a:schemeClr val="bg1"/>
                </a:solidFill>
              </a:rPr>
              <a:t>sikkerhed om, hvad reglerne kræver i praksis</a:t>
            </a:r>
            <a:endParaRPr lang="en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95E477-9ECD-3C8E-5929-EE7344D86743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2719647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6906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3F4CA8-E291-E78D-1A66-4FEEF9F83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CD0BC-D1AF-D693-DCA0-BD5B1EF07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4000" noProof="0" dirty="0">
                <a:solidFill>
                  <a:schemeClr val="bg1"/>
                </a:solidFill>
              </a:rPr>
              <a:t>Self-Determination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C903E-6F77-C26B-E075-6E7BE1F50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8267" cy="4351338"/>
          </a:xfrm>
        </p:spPr>
        <p:txBody>
          <a:bodyPr>
            <a:normAutofit/>
          </a:bodyPr>
          <a:lstStyle/>
          <a:p>
            <a:r>
              <a:rPr lang="en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Hvordan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motivere</a:t>
            </a:r>
            <a:r>
              <a:rPr lang="en-DK" dirty="0">
                <a:solidFill>
                  <a:schemeClr val="bg1"/>
                </a:solidFill>
              </a:rPr>
              <a:t> man </a:t>
            </a:r>
            <a:r>
              <a:rPr lang="en-DK" dirty="0" err="1">
                <a:solidFill>
                  <a:schemeClr val="bg1"/>
                </a:solidFill>
              </a:rPr>
              <a:t>medarbjedere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til</a:t>
            </a:r>
            <a:r>
              <a:rPr lang="en-DK" dirty="0">
                <a:solidFill>
                  <a:schemeClr val="bg1"/>
                </a:solidFill>
              </a:rPr>
              <a:t> at </a:t>
            </a:r>
            <a:r>
              <a:rPr lang="en-DK" dirty="0" err="1">
                <a:solidFill>
                  <a:schemeClr val="bg1"/>
                </a:solidFill>
              </a:rPr>
              <a:t>ændre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deres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adfærd</a:t>
            </a:r>
            <a:r>
              <a:rPr lang="en-DK" dirty="0">
                <a:solidFill>
                  <a:schemeClr val="bg1"/>
                </a:solidFill>
              </a:rPr>
              <a:t>?</a:t>
            </a:r>
          </a:p>
          <a:p>
            <a:pPr lvl="1"/>
            <a:r>
              <a:rPr lang="en-DK" noProof="0" dirty="0" err="1">
                <a:solidFill>
                  <a:schemeClr val="bg1"/>
                </a:solidFill>
              </a:rPr>
              <a:t>Phising</a:t>
            </a:r>
            <a:r>
              <a:rPr lang="en-DK" noProof="0" dirty="0">
                <a:solidFill>
                  <a:schemeClr val="bg1"/>
                </a:solidFill>
              </a:rPr>
              <a:t> test</a:t>
            </a:r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F467DF-0294-1927-1CCE-80F6F0D44A3E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562078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B78FB34-108B-9557-C757-5F077B407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882619"/>
              </p:ext>
            </p:extLst>
          </p:nvPr>
        </p:nvGraphicFramePr>
        <p:xfrm>
          <a:off x="548640" y="3429000"/>
          <a:ext cx="105460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0611">
                  <a:extLst>
                    <a:ext uri="{9D8B030D-6E8A-4147-A177-3AD203B41FA5}">
                      <a16:colId xmlns:a16="http://schemas.microsoft.com/office/drawing/2014/main" val="2782568839"/>
                    </a:ext>
                  </a:extLst>
                </a:gridCol>
                <a:gridCol w="3502429">
                  <a:extLst>
                    <a:ext uri="{9D8B030D-6E8A-4147-A177-3AD203B41FA5}">
                      <a16:colId xmlns:a16="http://schemas.microsoft.com/office/drawing/2014/main" val="2365323437"/>
                    </a:ext>
                  </a:extLst>
                </a:gridCol>
                <a:gridCol w="2636520">
                  <a:extLst>
                    <a:ext uri="{9D8B030D-6E8A-4147-A177-3AD203B41FA5}">
                      <a16:colId xmlns:a16="http://schemas.microsoft.com/office/drawing/2014/main" val="2348242253"/>
                    </a:ext>
                  </a:extLst>
                </a:gridCol>
                <a:gridCol w="2636520">
                  <a:extLst>
                    <a:ext uri="{9D8B030D-6E8A-4147-A177-3AD203B41FA5}">
                      <a16:colId xmlns:a16="http://schemas.microsoft.com/office/drawing/2014/main" val="16392787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SDT-</a:t>
                      </a:r>
                      <a:r>
                        <a:rPr lang="en-US" dirty="0" err="1"/>
                        <a:t>behov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Hvad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betyder</a:t>
                      </a:r>
                      <a:r>
                        <a:rPr lang="en-US" dirty="0"/>
                        <a:t> det?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Hvordan påvirker det sikkerhed?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Typiske problemer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0194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Autonomi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Følelsen af valg, kontrol og mening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Skaber ejerskab og deltagelse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“Det er bare bøvl ovenfra”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530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Kompetence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Oplevelsen af at kunne mestre opgaven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/>
                        <a:t>Giver korrekt brug af systemer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Brugere føler sig “dumme” i 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1565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Tilhørsforhold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Relationer og fællesskab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Rollemodeller → god adfærd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Ingen </a:t>
                      </a:r>
                      <a:r>
                        <a:rPr lang="en-US" dirty="0" err="1"/>
                        <a:t>ledelsesopbakning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8873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7024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8017</TotalTime>
  <Words>752</Words>
  <Application>Microsoft Office PowerPoint</Application>
  <PresentationFormat>Widescreen</PresentationFormat>
  <Paragraphs>97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Hvordan kan organisationens kultur og medarbejdernes adfærd enten understøtte eller skabe modstand mod IT-sikkerhedskrav, og hvilke metoder kan anvendes til at opnå efterlevelse?</vt:lpstr>
      <vt:lpstr>Agenda</vt:lpstr>
      <vt:lpstr>SOA dokument</vt:lpstr>
      <vt:lpstr>Behaviour Change Techniques</vt:lpstr>
      <vt:lpstr>Behaviour Change Techniques</vt:lpstr>
      <vt:lpstr>Kulturel bias</vt:lpstr>
      <vt:lpstr>Self-Determination Theory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Christian Rosenkjær</dc:creator>
  <cp:lastModifiedBy>Noah Christian Rosenkjær</cp:lastModifiedBy>
  <cp:revision>420</cp:revision>
  <dcterms:created xsi:type="dcterms:W3CDTF">2025-11-06T19:46:54Z</dcterms:created>
  <dcterms:modified xsi:type="dcterms:W3CDTF">2025-12-17T08:33:38Z</dcterms:modified>
</cp:coreProperties>
</file>